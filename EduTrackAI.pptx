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media/image1.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pic>
        <p:nvPicPr>
          <p:cNvPr id="2" name="Google Shape;9;p2" descr=""/>
          <p:cNvPicPr/>
          <p:nvPr/>
        </p:nvPicPr>
        <p:blipFill>
          <a:blip r:embed="rId2"/>
          <a:stretch/>
        </p:blipFill>
        <p:spPr>
          <a:xfrm>
            <a:off x="0" y="0"/>
            <a:ext cx="9143640" cy="5143320"/>
          </a:xfrm>
          <a:prstGeom prst="rect">
            <a:avLst/>
          </a:prstGeom>
          <a:noFill/>
          <a:ln w="0">
            <a:noFill/>
          </a:ln>
        </p:spPr>
      </p:pic>
      <p:sp>
        <p:nvSpPr>
          <p:cNvPr id="3" name="PlaceHolder 1"/>
          <p:cNvSpPr>
            <a:spLocks noGrp="1"/>
          </p:cNvSpPr>
          <p:nvPr>
            <p:ph type="title"/>
          </p:nvPr>
        </p:nvSpPr>
        <p:spPr>
          <a:xfrm>
            <a:off x="1091520" y="1062360"/>
            <a:ext cx="6960960" cy="211320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4" name="Google Shape;12;p2"/>
          <p:cNvSpPr/>
          <p:nvPr/>
        </p:nvSpPr>
        <p:spPr>
          <a:xfrm>
            <a:off x="7872480" y="-992160"/>
            <a:ext cx="2805840" cy="2879640"/>
          </a:xfrm>
          <a:custGeom>
            <a:avLst/>
            <a:gdLst>
              <a:gd name="textAreaLeft" fmla="*/ 0 w 2805840"/>
              <a:gd name="textAreaRight" fmla="*/ 2806200 w 2805840"/>
              <a:gd name="textAreaTop" fmla="*/ 0 h 2879640"/>
              <a:gd name="textAreaBottom" fmla="*/ 2880000 h 28796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 name="Google Shape;13;p2"/>
          <p:cNvSpPr/>
          <p:nvPr/>
        </p:nvSpPr>
        <p:spPr>
          <a:xfrm>
            <a:off x="-2319480" y="-861480"/>
            <a:ext cx="2805840" cy="2879640"/>
          </a:xfrm>
          <a:custGeom>
            <a:avLst/>
            <a:gdLst>
              <a:gd name="textAreaLeft" fmla="*/ 0 w 2805840"/>
              <a:gd name="textAreaRight" fmla="*/ 2806200 w 2805840"/>
              <a:gd name="textAreaTop" fmla="*/ 0 h 2879640"/>
              <a:gd name="textAreaBottom" fmla="*/ 2880000 h 28796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 name="Google Shape;14;p2"/>
          <p:cNvSpPr/>
          <p:nvPr/>
        </p:nvSpPr>
        <p:spPr>
          <a:xfrm rot="2224200">
            <a:off x="524880" y="4230360"/>
            <a:ext cx="2826360" cy="2688120"/>
          </a:xfrm>
          <a:custGeom>
            <a:avLst/>
            <a:gdLst>
              <a:gd name="textAreaLeft" fmla="*/ 0 w 2826360"/>
              <a:gd name="textAreaRight" fmla="*/ 2826720 w 2826360"/>
              <a:gd name="textAreaTop" fmla="*/ 0 h 2688120"/>
              <a:gd name="textAreaBottom" fmla="*/ 2688480 h 2688120"/>
            </a:gdLst>
            <a:ahLst/>
            <a:cxnLst/>
            <a:rect l="textAreaLeft" t="textAreaTop" r="textAreaRight" b="textAreaBottom"/>
            <a:pathLst>
              <a:path w="113073" h="107542">
                <a:moveTo>
                  <a:pt x="68694" y="456"/>
                </a:moveTo>
                <a:cubicBezTo>
                  <a:pt x="76020" y="456"/>
                  <a:pt x="82342" y="2979"/>
                  <a:pt x="87692" y="7994"/>
                </a:cubicBezTo>
                <a:cubicBezTo>
                  <a:pt x="93224" y="13222"/>
                  <a:pt x="98786" y="18511"/>
                  <a:pt x="104288" y="23800"/>
                </a:cubicBezTo>
                <a:cubicBezTo>
                  <a:pt x="108908" y="28237"/>
                  <a:pt x="111583" y="33648"/>
                  <a:pt x="112403" y="40001"/>
                </a:cubicBezTo>
                <a:cubicBezTo>
                  <a:pt x="112525" y="40973"/>
                  <a:pt x="112616" y="41976"/>
                  <a:pt x="112616" y="42949"/>
                </a:cubicBezTo>
                <a:cubicBezTo>
                  <a:pt x="112616" y="50153"/>
                  <a:pt x="112677" y="57356"/>
                  <a:pt x="112586" y="64560"/>
                </a:cubicBezTo>
                <a:cubicBezTo>
                  <a:pt x="112494" y="71764"/>
                  <a:pt x="109972" y="78086"/>
                  <a:pt x="104835" y="83162"/>
                </a:cubicBezTo>
                <a:cubicBezTo>
                  <a:pt x="98938" y="88998"/>
                  <a:pt x="92889" y="94712"/>
                  <a:pt x="86780" y="100336"/>
                </a:cubicBezTo>
                <a:cubicBezTo>
                  <a:pt x="82646" y="104135"/>
                  <a:pt x="77661" y="106232"/>
                  <a:pt x="72129" y="106871"/>
                </a:cubicBezTo>
                <a:cubicBezTo>
                  <a:pt x="70974" y="107023"/>
                  <a:pt x="69849" y="107053"/>
                  <a:pt x="68694" y="107053"/>
                </a:cubicBezTo>
                <a:cubicBezTo>
                  <a:pt x="64652" y="107083"/>
                  <a:pt x="60579" y="107083"/>
                  <a:pt x="56536" y="107083"/>
                </a:cubicBezTo>
                <a:lnTo>
                  <a:pt x="56536" y="107053"/>
                </a:lnTo>
                <a:cubicBezTo>
                  <a:pt x="53659" y="107053"/>
                  <a:pt x="50768" y="107094"/>
                  <a:pt x="47881" y="107094"/>
                </a:cubicBezTo>
                <a:cubicBezTo>
                  <a:pt x="46438" y="107094"/>
                  <a:pt x="44996" y="107083"/>
                  <a:pt x="43557" y="107053"/>
                </a:cubicBezTo>
                <a:cubicBezTo>
                  <a:pt x="36536" y="106901"/>
                  <a:pt x="30487" y="104348"/>
                  <a:pt x="25411" y="99545"/>
                </a:cubicBezTo>
                <a:cubicBezTo>
                  <a:pt x="19879" y="94317"/>
                  <a:pt x="14347" y="89059"/>
                  <a:pt x="8845" y="83770"/>
                </a:cubicBezTo>
                <a:cubicBezTo>
                  <a:pt x="4164" y="79302"/>
                  <a:pt x="1459" y="73770"/>
                  <a:pt x="669" y="67356"/>
                </a:cubicBezTo>
                <a:cubicBezTo>
                  <a:pt x="547" y="66353"/>
                  <a:pt x="486" y="65320"/>
                  <a:pt x="486" y="64317"/>
                </a:cubicBezTo>
                <a:cubicBezTo>
                  <a:pt x="456" y="57204"/>
                  <a:pt x="395" y="50122"/>
                  <a:pt x="486" y="43010"/>
                </a:cubicBezTo>
                <a:cubicBezTo>
                  <a:pt x="608" y="35472"/>
                  <a:pt x="3404" y="29028"/>
                  <a:pt x="8815" y="23769"/>
                </a:cubicBezTo>
                <a:cubicBezTo>
                  <a:pt x="14408" y="18389"/>
                  <a:pt x="20031" y="13070"/>
                  <a:pt x="25654" y="7751"/>
                </a:cubicBezTo>
                <a:cubicBezTo>
                  <a:pt x="30031" y="3647"/>
                  <a:pt x="35229" y="1307"/>
                  <a:pt x="41186" y="638"/>
                </a:cubicBezTo>
                <a:cubicBezTo>
                  <a:pt x="42189" y="517"/>
                  <a:pt x="43162" y="486"/>
                  <a:pt x="44165" y="486"/>
                </a:cubicBezTo>
                <a:cubicBezTo>
                  <a:pt x="52341" y="456"/>
                  <a:pt x="60518" y="456"/>
                  <a:pt x="68694" y="456"/>
                </a:cubicBezTo>
                <a:close/>
                <a:moveTo>
                  <a:pt x="42493" y="0"/>
                </a:moveTo>
                <a:cubicBezTo>
                  <a:pt x="41794" y="91"/>
                  <a:pt x="41125" y="152"/>
                  <a:pt x="40426" y="274"/>
                </a:cubicBezTo>
                <a:cubicBezTo>
                  <a:pt x="34681" y="1064"/>
                  <a:pt x="29636" y="3404"/>
                  <a:pt x="25411" y="7356"/>
                </a:cubicBezTo>
                <a:cubicBezTo>
                  <a:pt x="20487" y="11976"/>
                  <a:pt x="15623" y="16626"/>
                  <a:pt x="10730" y="21307"/>
                </a:cubicBezTo>
                <a:cubicBezTo>
                  <a:pt x="9331" y="22645"/>
                  <a:pt x="7903" y="23952"/>
                  <a:pt x="6626" y="25441"/>
                </a:cubicBezTo>
                <a:cubicBezTo>
                  <a:pt x="3100" y="29544"/>
                  <a:pt x="1003" y="34317"/>
                  <a:pt x="274" y="39697"/>
                </a:cubicBezTo>
                <a:cubicBezTo>
                  <a:pt x="152" y="40517"/>
                  <a:pt x="91" y="41368"/>
                  <a:pt x="0" y="42219"/>
                </a:cubicBezTo>
                <a:lnTo>
                  <a:pt x="0" y="65290"/>
                </a:lnTo>
                <a:cubicBezTo>
                  <a:pt x="61" y="65989"/>
                  <a:pt x="122" y="66688"/>
                  <a:pt x="213" y="67417"/>
                </a:cubicBezTo>
                <a:cubicBezTo>
                  <a:pt x="1033" y="73952"/>
                  <a:pt x="3769" y="79545"/>
                  <a:pt x="8511" y="84104"/>
                </a:cubicBezTo>
                <a:cubicBezTo>
                  <a:pt x="14043" y="89393"/>
                  <a:pt x="19575" y="94652"/>
                  <a:pt x="25137" y="99910"/>
                </a:cubicBezTo>
                <a:cubicBezTo>
                  <a:pt x="30305" y="104773"/>
                  <a:pt x="36444" y="107418"/>
                  <a:pt x="43557" y="107479"/>
                </a:cubicBezTo>
                <a:cubicBezTo>
                  <a:pt x="46974" y="107527"/>
                  <a:pt x="50390" y="107542"/>
                  <a:pt x="53806" y="107542"/>
                </a:cubicBezTo>
                <a:cubicBezTo>
                  <a:pt x="58931" y="107542"/>
                  <a:pt x="64056" y="107509"/>
                  <a:pt x="69181" y="107509"/>
                </a:cubicBezTo>
                <a:cubicBezTo>
                  <a:pt x="70032" y="107509"/>
                  <a:pt x="70883" y="107479"/>
                  <a:pt x="71734" y="107387"/>
                </a:cubicBezTo>
                <a:cubicBezTo>
                  <a:pt x="77965" y="106719"/>
                  <a:pt x="83406" y="104226"/>
                  <a:pt x="87965" y="99910"/>
                </a:cubicBezTo>
                <a:cubicBezTo>
                  <a:pt x="93467" y="94712"/>
                  <a:pt x="98968" y="89484"/>
                  <a:pt x="104440" y="84226"/>
                </a:cubicBezTo>
                <a:cubicBezTo>
                  <a:pt x="109121" y="79758"/>
                  <a:pt x="111917" y="74317"/>
                  <a:pt x="112798" y="67904"/>
                </a:cubicBezTo>
                <a:cubicBezTo>
                  <a:pt x="112920" y="67204"/>
                  <a:pt x="112981" y="66475"/>
                  <a:pt x="113072" y="65746"/>
                </a:cubicBezTo>
                <a:lnTo>
                  <a:pt x="113072" y="41763"/>
                </a:lnTo>
                <a:cubicBezTo>
                  <a:pt x="113011" y="41156"/>
                  <a:pt x="112950" y="40548"/>
                  <a:pt x="112859" y="39970"/>
                </a:cubicBezTo>
                <a:cubicBezTo>
                  <a:pt x="112008" y="33465"/>
                  <a:pt x="109273" y="27933"/>
                  <a:pt x="104561" y="23405"/>
                </a:cubicBezTo>
                <a:cubicBezTo>
                  <a:pt x="99060" y="18146"/>
                  <a:pt x="93528" y="12888"/>
                  <a:pt x="88026" y="7660"/>
                </a:cubicBezTo>
                <a:cubicBezTo>
                  <a:pt x="83831" y="3708"/>
                  <a:pt x="78907" y="1246"/>
                  <a:pt x="73223" y="334"/>
                </a:cubicBezTo>
                <a:cubicBezTo>
                  <a:pt x="72342" y="213"/>
                  <a:pt x="71460" y="122"/>
                  <a:pt x="70579"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pic>
        <p:nvPicPr>
          <p:cNvPr id="8" name="Google Shape;295;p33" descr=""/>
          <p:cNvPicPr/>
          <p:nvPr/>
        </p:nvPicPr>
        <p:blipFill>
          <a:blip r:embed="rId2"/>
          <a:stretch/>
        </p:blipFill>
        <p:spPr>
          <a:xfrm flipH="1" rot="10800000">
            <a:off x="0" y="0"/>
            <a:ext cx="9143640" cy="5143320"/>
          </a:xfrm>
          <a:prstGeom prst="rect">
            <a:avLst/>
          </a:prstGeom>
          <a:noFill/>
          <a:ln w="0">
            <a:noFill/>
          </a:ln>
        </p:spPr>
      </p:pic>
      <p:sp>
        <p:nvSpPr>
          <p:cNvPr id="9" name="PlaceHolder 1"/>
          <p:cNvSpPr>
            <a:spLocks noGrp="1"/>
          </p:cNvSpPr>
          <p:nvPr>
            <p:ph type="title"/>
          </p:nvPr>
        </p:nvSpPr>
        <p:spPr>
          <a:xfrm>
            <a:off x="2347920" y="601200"/>
            <a:ext cx="4447800" cy="1058400"/>
          </a:xfrm>
          <a:prstGeom prst="rect">
            <a:avLst/>
          </a:prstGeom>
          <a:noFill/>
          <a:ln w="0">
            <a:noFill/>
          </a:ln>
        </p:spPr>
        <p:txBody>
          <a:bodyPr lIns="91440" rIns="91440" tIns="91440" bIns="91440" anchor="t">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
        <p:nvSpPr>
          <p:cNvPr id="10" name="Google Shape;298;p33"/>
          <p:cNvSpPr/>
          <p:nvPr/>
        </p:nvSpPr>
        <p:spPr>
          <a:xfrm>
            <a:off x="2099160" y="361188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00000"/>
              </a:lnSpc>
              <a:spcBef>
                <a:spcPts val="300"/>
              </a:spcBef>
              <a:tabLst>
                <a:tab algn="l" pos="0"/>
              </a:tabLst>
            </a:pPr>
            <a:r>
              <a:rPr b="1" lang="en" sz="1200" strike="noStrike" u="none">
                <a:solidFill>
                  <a:schemeClr val="dk1"/>
                </a:solidFill>
                <a:effectLst/>
                <a:uFillTx/>
                <a:latin typeface="DM Sans"/>
                <a:ea typeface="DM Sans"/>
              </a:rPr>
              <a:t>CREDITS:</a:t>
            </a:r>
            <a:r>
              <a:rPr b="0" lang="en" sz="1200" strike="noStrike" u="none">
                <a:solidFill>
                  <a:schemeClr val="dk1"/>
                </a:solidFill>
                <a:effectLst/>
                <a:uFillTx/>
                <a:latin typeface="DM Sans"/>
                <a:ea typeface="DM Sans"/>
              </a:rPr>
              <a:t> This presentation template was created by </a:t>
            </a:r>
            <a:r>
              <a:rPr b="1" lang="en" sz="1200" strike="noStrike" u="sng">
                <a:solidFill>
                  <a:schemeClr val="hlink"/>
                </a:solidFill>
                <a:effectLst/>
                <a:uFillTx/>
                <a:latin typeface="DM Sans"/>
                <a:ea typeface="DM Sans"/>
                <a:hlinkClick r:id="rId3"/>
              </a:rPr>
              <a:t>Slidesgo</a:t>
            </a:r>
            <a:r>
              <a:rPr b="0" lang="en" sz="1200" strike="noStrike" u="none">
                <a:solidFill>
                  <a:schemeClr val="dk1"/>
                </a:solidFill>
                <a:effectLst/>
                <a:uFillTx/>
                <a:latin typeface="DM Sans"/>
                <a:ea typeface="DM Sans"/>
              </a:rPr>
              <a:t>, and includes icons by </a:t>
            </a:r>
            <a:r>
              <a:rPr b="1" lang="en" sz="1200" strike="noStrike" u="sng">
                <a:solidFill>
                  <a:schemeClr val="dk1"/>
                </a:solidFill>
                <a:effectLst/>
                <a:uFillTx/>
                <a:latin typeface="DM Sans"/>
                <a:ea typeface="DM Sans"/>
                <a:hlinkClick r:id="rId4"/>
              </a:rPr>
              <a:t>Flaticon</a:t>
            </a:r>
            <a:r>
              <a:rPr b="0" lang="en" sz="1200" strike="noStrike" u="none">
                <a:solidFill>
                  <a:schemeClr val="dk1"/>
                </a:solidFill>
                <a:effectLst/>
                <a:uFillTx/>
                <a:latin typeface="DM Sans"/>
                <a:ea typeface="DM Sans"/>
              </a:rPr>
              <a:t>, and infographics &amp; images by </a:t>
            </a:r>
            <a:r>
              <a:rPr b="1" lang="en" sz="1200" strike="noStrike" u="sng">
                <a:solidFill>
                  <a:schemeClr val="dk1"/>
                </a:solidFill>
                <a:effectLst/>
                <a:uFillTx/>
                <a:latin typeface="DM Sans"/>
                <a:ea typeface="DM Sans"/>
                <a:hlinkClick r:id="rId5"/>
              </a:rPr>
              <a:t>Freepik</a:t>
            </a:r>
            <a:r>
              <a:rPr b="0" lang="en" sz="1200" strike="noStrike" u="sng">
                <a:solidFill>
                  <a:schemeClr val="dk1"/>
                </a:solidFill>
                <a:effectLst/>
                <a:uFillTx/>
                <a:latin typeface="DM Sans"/>
                <a:ea typeface="DM Sans"/>
              </a:rPr>
              <a:t> </a:t>
            </a:r>
            <a:endParaRPr b="0" lang="en-US" sz="1200" strike="noStrike" u="none">
              <a:solidFill>
                <a:srgbClr val="ffffff"/>
              </a:solidFill>
              <a:effectLst/>
              <a:uFillTx/>
              <a:latin typeface="OpenSymbol"/>
            </a:endParaRPr>
          </a:p>
        </p:txBody>
      </p:sp>
      <p:sp>
        <p:nvSpPr>
          <p:cNvPr id="11" name="Google Shape;299;p33"/>
          <p:cNvSpPr/>
          <p:nvPr/>
        </p:nvSpPr>
        <p:spPr>
          <a:xfrm rot="1524600">
            <a:off x="266040" y="4611240"/>
            <a:ext cx="2826720" cy="2688120"/>
          </a:xfrm>
          <a:custGeom>
            <a:avLst/>
            <a:gdLst>
              <a:gd name="textAreaLeft" fmla="*/ 0 w 2826720"/>
              <a:gd name="textAreaRight" fmla="*/ 2827080 w 2826720"/>
              <a:gd name="textAreaTop" fmla="*/ 0 h 2688120"/>
              <a:gd name="textAreaBottom" fmla="*/ 2688480 h 2688120"/>
            </a:gdLst>
            <a:ahLst/>
            <a:cxnLst/>
            <a:rect l="textAreaLeft" t="textAreaTop" r="textAreaRight" b="textAreaBottom"/>
            <a:pathLst>
              <a:path w="113073" h="107542">
                <a:moveTo>
                  <a:pt x="68694" y="456"/>
                </a:moveTo>
                <a:cubicBezTo>
                  <a:pt x="76020" y="456"/>
                  <a:pt x="82342" y="2979"/>
                  <a:pt x="87692" y="7994"/>
                </a:cubicBezTo>
                <a:cubicBezTo>
                  <a:pt x="93224" y="13222"/>
                  <a:pt x="98786" y="18511"/>
                  <a:pt x="104288" y="23800"/>
                </a:cubicBezTo>
                <a:cubicBezTo>
                  <a:pt x="108908" y="28237"/>
                  <a:pt x="111583" y="33648"/>
                  <a:pt x="112403" y="40001"/>
                </a:cubicBezTo>
                <a:cubicBezTo>
                  <a:pt x="112525" y="40973"/>
                  <a:pt x="112616" y="41976"/>
                  <a:pt x="112616" y="42949"/>
                </a:cubicBezTo>
                <a:cubicBezTo>
                  <a:pt x="112616" y="50153"/>
                  <a:pt x="112677" y="57356"/>
                  <a:pt x="112586" y="64560"/>
                </a:cubicBezTo>
                <a:cubicBezTo>
                  <a:pt x="112494" y="71764"/>
                  <a:pt x="109972" y="78086"/>
                  <a:pt x="104835" y="83162"/>
                </a:cubicBezTo>
                <a:cubicBezTo>
                  <a:pt x="98938" y="88998"/>
                  <a:pt x="92889" y="94712"/>
                  <a:pt x="86780" y="100336"/>
                </a:cubicBezTo>
                <a:cubicBezTo>
                  <a:pt x="82646" y="104135"/>
                  <a:pt x="77661" y="106232"/>
                  <a:pt x="72129" y="106871"/>
                </a:cubicBezTo>
                <a:cubicBezTo>
                  <a:pt x="70974" y="107023"/>
                  <a:pt x="69849" y="107053"/>
                  <a:pt x="68694" y="107053"/>
                </a:cubicBezTo>
                <a:cubicBezTo>
                  <a:pt x="64652" y="107083"/>
                  <a:pt x="60579" y="107083"/>
                  <a:pt x="56536" y="107083"/>
                </a:cubicBezTo>
                <a:lnTo>
                  <a:pt x="56536" y="107053"/>
                </a:lnTo>
                <a:cubicBezTo>
                  <a:pt x="53659" y="107053"/>
                  <a:pt x="50768" y="107094"/>
                  <a:pt x="47881" y="107094"/>
                </a:cubicBezTo>
                <a:cubicBezTo>
                  <a:pt x="46438" y="107094"/>
                  <a:pt x="44996" y="107083"/>
                  <a:pt x="43557" y="107053"/>
                </a:cubicBezTo>
                <a:cubicBezTo>
                  <a:pt x="36536" y="106901"/>
                  <a:pt x="30487" y="104348"/>
                  <a:pt x="25411" y="99545"/>
                </a:cubicBezTo>
                <a:cubicBezTo>
                  <a:pt x="19879" y="94317"/>
                  <a:pt x="14347" y="89059"/>
                  <a:pt x="8845" y="83770"/>
                </a:cubicBezTo>
                <a:cubicBezTo>
                  <a:pt x="4164" y="79302"/>
                  <a:pt x="1459" y="73770"/>
                  <a:pt x="669" y="67356"/>
                </a:cubicBezTo>
                <a:cubicBezTo>
                  <a:pt x="547" y="66353"/>
                  <a:pt x="486" y="65320"/>
                  <a:pt x="486" y="64317"/>
                </a:cubicBezTo>
                <a:cubicBezTo>
                  <a:pt x="456" y="57204"/>
                  <a:pt x="395" y="50122"/>
                  <a:pt x="486" y="43010"/>
                </a:cubicBezTo>
                <a:cubicBezTo>
                  <a:pt x="608" y="35472"/>
                  <a:pt x="3404" y="29028"/>
                  <a:pt x="8815" y="23769"/>
                </a:cubicBezTo>
                <a:cubicBezTo>
                  <a:pt x="14408" y="18389"/>
                  <a:pt x="20031" y="13070"/>
                  <a:pt x="25654" y="7751"/>
                </a:cubicBezTo>
                <a:cubicBezTo>
                  <a:pt x="30031" y="3647"/>
                  <a:pt x="35229" y="1307"/>
                  <a:pt x="41186" y="638"/>
                </a:cubicBezTo>
                <a:cubicBezTo>
                  <a:pt x="42189" y="517"/>
                  <a:pt x="43162" y="486"/>
                  <a:pt x="44165" y="486"/>
                </a:cubicBezTo>
                <a:cubicBezTo>
                  <a:pt x="52341" y="456"/>
                  <a:pt x="60518" y="456"/>
                  <a:pt x="68694" y="456"/>
                </a:cubicBezTo>
                <a:close/>
                <a:moveTo>
                  <a:pt x="42493" y="0"/>
                </a:moveTo>
                <a:cubicBezTo>
                  <a:pt x="41794" y="91"/>
                  <a:pt x="41125" y="152"/>
                  <a:pt x="40426" y="274"/>
                </a:cubicBezTo>
                <a:cubicBezTo>
                  <a:pt x="34681" y="1064"/>
                  <a:pt x="29636" y="3404"/>
                  <a:pt x="25411" y="7356"/>
                </a:cubicBezTo>
                <a:cubicBezTo>
                  <a:pt x="20487" y="11976"/>
                  <a:pt x="15623" y="16626"/>
                  <a:pt x="10730" y="21307"/>
                </a:cubicBezTo>
                <a:cubicBezTo>
                  <a:pt x="9331" y="22645"/>
                  <a:pt x="7903" y="23952"/>
                  <a:pt x="6626" y="25441"/>
                </a:cubicBezTo>
                <a:cubicBezTo>
                  <a:pt x="3100" y="29544"/>
                  <a:pt x="1003" y="34317"/>
                  <a:pt x="274" y="39697"/>
                </a:cubicBezTo>
                <a:cubicBezTo>
                  <a:pt x="152" y="40517"/>
                  <a:pt x="91" y="41368"/>
                  <a:pt x="0" y="42219"/>
                </a:cubicBezTo>
                <a:lnTo>
                  <a:pt x="0" y="65290"/>
                </a:lnTo>
                <a:cubicBezTo>
                  <a:pt x="61" y="65989"/>
                  <a:pt x="122" y="66688"/>
                  <a:pt x="213" y="67417"/>
                </a:cubicBezTo>
                <a:cubicBezTo>
                  <a:pt x="1033" y="73952"/>
                  <a:pt x="3769" y="79545"/>
                  <a:pt x="8511" y="84104"/>
                </a:cubicBezTo>
                <a:cubicBezTo>
                  <a:pt x="14043" y="89393"/>
                  <a:pt x="19575" y="94652"/>
                  <a:pt x="25137" y="99910"/>
                </a:cubicBezTo>
                <a:cubicBezTo>
                  <a:pt x="30305" y="104773"/>
                  <a:pt x="36444" y="107418"/>
                  <a:pt x="43557" y="107479"/>
                </a:cubicBezTo>
                <a:cubicBezTo>
                  <a:pt x="46974" y="107527"/>
                  <a:pt x="50390" y="107542"/>
                  <a:pt x="53806" y="107542"/>
                </a:cubicBezTo>
                <a:cubicBezTo>
                  <a:pt x="58931" y="107542"/>
                  <a:pt x="64056" y="107509"/>
                  <a:pt x="69181" y="107509"/>
                </a:cubicBezTo>
                <a:cubicBezTo>
                  <a:pt x="70032" y="107509"/>
                  <a:pt x="70883" y="107479"/>
                  <a:pt x="71734" y="107387"/>
                </a:cubicBezTo>
                <a:cubicBezTo>
                  <a:pt x="77965" y="106719"/>
                  <a:pt x="83406" y="104226"/>
                  <a:pt x="87965" y="99910"/>
                </a:cubicBezTo>
                <a:cubicBezTo>
                  <a:pt x="93467" y="94712"/>
                  <a:pt x="98968" y="89484"/>
                  <a:pt x="104440" y="84226"/>
                </a:cubicBezTo>
                <a:cubicBezTo>
                  <a:pt x="109121" y="79758"/>
                  <a:pt x="111917" y="74317"/>
                  <a:pt x="112798" y="67904"/>
                </a:cubicBezTo>
                <a:cubicBezTo>
                  <a:pt x="112920" y="67204"/>
                  <a:pt x="112981" y="66475"/>
                  <a:pt x="113072" y="65746"/>
                </a:cubicBezTo>
                <a:lnTo>
                  <a:pt x="113072" y="41763"/>
                </a:lnTo>
                <a:cubicBezTo>
                  <a:pt x="113011" y="41156"/>
                  <a:pt x="112950" y="40548"/>
                  <a:pt x="112859" y="39970"/>
                </a:cubicBezTo>
                <a:cubicBezTo>
                  <a:pt x="112008" y="33465"/>
                  <a:pt x="109273" y="27933"/>
                  <a:pt x="104561" y="23405"/>
                </a:cubicBezTo>
                <a:cubicBezTo>
                  <a:pt x="99060" y="18146"/>
                  <a:pt x="93528" y="12888"/>
                  <a:pt x="88026" y="7660"/>
                </a:cubicBezTo>
                <a:cubicBezTo>
                  <a:pt x="83831" y="3708"/>
                  <a:pt x="78907" y="1246"/>
                  <a:pt x="73223" y="334"/>
                </a:cubicBezTo>
                <a:cubicBezTo>
                  <a:pt x="72342" y="213"/>
                  <a:pt x="71460" y="122"/>
                  <a:pt x="70579"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300;p33"/>
          <p:cNvSpPr/>
          <p:nvPr/>
        </p:nvSpPr>
        <p:spPr>
          <a:xfrm>
            <a:off x="8270640" y="239040"/>
            <a:ext cx="2805840" cy="2879640"/>
          </a:xfrm>
          <a:custGeom>
            <a:avLst/>
            <a:gdLst>
              <a:gd name="textAreaLeft" fmla="*/ 0 w 2805840"/>
              <a:gd name="textAreaRight" fmla="*/ 2806200 w 2805840"/>
              <a:gd name="textAreaTop" fmla="*/ 0 h 2879640"/>
              <a:gd name="textAreaBottom" fmla="*/ 2880000 h 28796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Google Shape;301;p33"/>
          <p:cNvSpPr/>
          <p:nvPr/>
        </p:nvSpPr>
        <p:spPr>
          <a:xfrm rot="20080200">
            <a:off x="-1370880" y="-837360"/>
            <a:ext cx="2826360" cy="2688120"/>
          </a:xfrm>
          <a:custGeom>
            <a:avLst/>
            <a:gdLst>
              <a:gd name="textAreaLeft" fmla="*/ 0 w 2826360"/>
              <a:gd name="textAreaRight" fmla="*/ 2826720 w 2826360"/>
              <a:gd name="textAreaTop" fmla="*/ 0 h 2688120"/>
              <a:gd name="textAreaBottom" fmla="*/ 2688480 h 2688120"/>
            </a:gdLst>
            <a:ahLst/>
            <a:cxnLst/>
            <a:rect l="textAreaLeft" t="textAreaTop" r="textAreaRight" b="textAreaBottom"/>
            <a:pathLst>
              <a:path w="113073" h="107542">
                <a:moveTo>
                  <a:pt x="68694" y="456"/>
                </a:moveTo>
                <a:cubicBezTo>
                  <a:pt x="76020" y="456"/>
                  <a:pt x="82342" y="2979"/>
                  <a:pt x="87692" y="7994"/>
                </a:cubicBezTo>
                <a:cubicBezTo>
                  <a:pt x="93224" y="13222"/>
                  <a:pt x="98786" y="18511"/>
                  <a:pt x="104288" y="23800"/>
                </a:cubicBezTo>
                <a:cubicBezTo>
                  <a:pt x="108908" y="28237"/>
                  <a:pt x="111583" y="33648"/>
                  <a:pt x="112403" y="40001"/>
                </a:cubicBezTo>
                <a:cubicBezTo>
                  <a:pt x="112525" y="40973"/>
                  <a:pt x="112616" y="41976"/>
                  <a:pt x="112616" y="42949"/>
                </a:cubicBezTo>
                <a:cubicBezTo>
                  <a:pt x="112616" y="50153"/>
                  <a:pt x="112677" y="57356"/>
                  <a:pt x="112586" y="64560"/>
                </a:cubicBezTo>
                <a:cubicBezTo>
                  <a:pt x="112494" y="71764"/>
                  <a:pt x="109972" y="78086"/>
                  <a:pt x="104835" y="83162"/>
                </a:cubicBezTo>
                <a:cubicBezTo>
                  <a:pt x="98938" y="88998"/>
                  <a:pt x="92889" y="94712"/>
                  <a:pt x="86780" y="100336"/>
                </a:cubicBezTo>
                <a:cubicBezTo>
                  <a:pt x="82646" y="104135"/>
                  <a:pt x="77661" y="106232"/>
                  <a:pt x="72129" y="106871"/>
                </a:cubicBezTo>
                <a:cubicBezTo>
                  <a:pt x="70974" y="107023"/>
                  <a:pt x="69849" y="107053"/>
                  <a:pt x="68694" y="107053"/>
                </a:cubicBezTo>
                <a:cubicBezTo>
                  <a:pt x="64652" y="107083"/>
                  <a:pt x="60579" y="107083"/>
                  <a:pt x="56536" y="107083"/>
                </a:cubicBezTo>
                <a:lnTo>
                  <a:pt x="56536" y="107053"/>
                </a:lnTo>
                <a:cubicBezTo>
                  <a:pt x="53659" y="107053"/>
                  <a:pt x="50768" y="107094"/>
                  <a:pt x="47881" y="107094"/>
                </a:cubicBezTo>
                <a:cubicBezTo>
                  <a:pt x="46438" y="107094"/>
                  <a:pt x="44996" y="107083"/>
                  <a:pt x="43557" y="107053"/>
                </a:cubicBezTo>
                <a:cubicBezTo>
                  <a:pt x="36536" y="106901"/>
                  <a:pt x="30487" y="104348"/>
                  <a:pt x="25411" y="99545"/>
                </a:cubicBezTo>
                <a:cubicBezTo>
                  <a:pt x="19879" y="94317"/>
                  <a:pt x="14347" y="89059"/>
                  <a:pt x="8845" y="83770"/>
                </a:cubicBezTo>
                <a:cubicBezTo>
                  <a:pt x="4164" y="79302"/>
                  <a:pt x="1459" y="73770"/>
                  <a:pt x="669" y="67356"/>
                </a:cubicBezTo>
                <a:cubicBezTo>
                  <a:pt x="547" y="66353"/>
                  <a:pt x="486" y="65320"/>
                  <a:pt x="486" y="64317"/>
                </a:cubicBezTo>
                <a:cubicBezTo>
                  <a:pt x="456" y="57204"/>
                  <a:pt x="395" y="50122"/>
                  <a:pt x="486" y="43010"/>
                </a:cubicBezTo>
                <a:cubicBezTo>
                  <a:pt x="608" y="35472"/>
                  <a:pt x="3404" y="29028"/>
                  <a:pt x="8815" y="23769"/>
                </a:cubicBezTo>
                <a:cubicBezTo>
                  <a:pt x="14408" y="18389"/>
                  <a:pt x="20031" y="13070"/>
                  <a:pt x="25654" y="7751"/>
                </a:cubicBezTo>
                <a:cubicBezTo>
                  <a:pt x="30031" y="3647"/>
                  <a:pt x="35229" y="1307"/>
                  <a:pt x="41186" y="638"/>
                </a:cubicBezTo>
                <a:cubicBezTo>
                  <a:pt x="42189" y="517"/>
                  <a:pt x="43162" y="486"/>
                  <a:pt x="44165" y="486"/>
                </a:cubicBezTo>
                <a:cubicBezTo>
                  <a:pt x="52341" y="456"/>
                  <a:pt x="60518" y="456"/>
                  <a:pt x="68694" y="456"/>
                </a:cubicBezTo>
                <a:close/>
                <a:moveTo>
                  <a:pt x="42493" y="0"/>
                </a:moveTo>
                <a:cubicBezTo>
                  <a:pt x="41794" y="91"/>
                  <a:pt x="41125" y="152"/>
                  <a:pt x="40426" y="274"/>
                </a:cubicBezTo>
                <a:cubicBezTo>
                  <a:pt x="34681" y="1064"/>
                  <a:pt x="29636" y="3404"/>
                  <a:pt x="25411" y="7356"/>
                </a:cubicBezTo>
                <a:cubicBezTo>
                  <a:pt x="20487" y="11976"/>
                  <a:pt x="15623" y="16626"/>
                  <a:pt x="10730" y="21307"/>
                </a:cubicBezTo>
                <a:cubicBezTo>
                  <a:pt x="9331" y="22645"/>
                  <a:pt x="7903" y="23952"/>
                  <a:pt x="6626" y="25441"/>
                </a:cubicBezTo>
                <a:cubicBezTo>
                  <a:pt x="3100" y="29544"/>
                  <a:pt x="1003" y="34317"/>
                  <a:pt x="274" y="39697"/>
                </a:cubicBezTo>
                <a:cubicBezTo>
                  <a:pt x="152" y="40517"/>
                  <a:pt x="91" y="41368"/>
                  <a:pt x="0" y="42219"/>
                </a:cubicBezTo>
                <a:lnTo>
                  <a:pt x="0" y="65290"/>
                </a:lnTo>
                <a:cubicBezTo>
                  <a:pt x="61" y="65989"/>
                  <a:pt x="122" y="66688"/>
                  <a:pt x="213" y="67417"/>
                </a:cubicBezTo>
                <a:cubicBezTo>
                  <a:pt x="1033" y="73952"/>
                  <a:pt x="3769" y="79545"/>
                  <a:pt x="8511" y="84104"/>
                </a:cubicBezTo>
                <a:cubicBezTo>
                  <a:pt x="14043" y="89393"/>
                  <a:pt x="19575" y="94652"/>
                  <a:pt x="25137" y="99910"/>
                </a:cubicBezTo>
                <a:cubicBezTo>
                  <a:pt x="30305" y="104773"/>
                  <a:pt x="36444" y="107418"/>
                  <a:pt x="43557" y="107479"/>
                </a:cubicBezTo>
                <a:cubicBezTo>
                  <a:pt x="46974" y="107527"/>
                  <a:pt x="50390" y="107542"/>
                  <a:pt x="53806" y="107542"/>
                </a:cubicBezTo>
                <a:cubicBezTo>
                  <a:pt x="58931" y="107542"/>
                  <a:pt x="64056" y="107509"/>
                  <a:pt x="69181" y="107509"/>
                </a:cubicBezTo>
                <a:cubicBezTo>
                  <a:pt x="70032" y="107509"/>
                  <a:pt x="70883" y="107479"/>
                  <a:pt x="71734" y="107387"/>
                </a:cubicBezTo>
                <a:cubicBezTo>
                  <a:pt x="77965" y="106719"/>
                  <a:pt x="83406" y="104226"/>
                  <a:pt x="87965" y="99910"/>
                </a:cubicBezTo>
                <a:cubicBezTo>
                  <a:pt x="93467" y="94712"/>
                  <a:pt x="98968" y="89484"/>
                  <a:pt x="104440" y="84226"/>
                </a:cubicBezTo>
                <a:cubicBezTo>
                  <a:pt x="109121" y="79758"/>
                  <a:pt x="111917" y="74317"/>
                  <a:pt x="112798" y="67904"/>
                </a:cubicBezTo>
                <a:cubicBezTo>
                  <a:pt x="112920" y="67204"/>
                  <a:pt x="112981" y="66475"/>
                  <a:pt x="113072" y="65746"/>
                </a:cubicBezTo>
                <a:lnTo>
                  <a:pt x="113072" y="41763"/>
                </a:lnTo>
                <a:cubicBezTo>
                  <a:pt x="113011" y="41156"/>
                  <a:pt x="112950" y="40548"/>
                  <a:pt x="112859" y="39970"/>
                </a:cubicBezTo>
                <a:cubicBezTo>
                  <a:pt x="112008" y="33465"/>
                  <a:pt x="109273" y="27933"/>
                  <a:pt x="104561" y="23405"/>
                </a:cubicBezTo>
                <a:cubicBezTo>
                  <a:pt x="99060" y="18146"/>
                  <a:pt x="93528" y="12888"/>
                  <a:pt x="88026" y="7660"/>
                </a:cubicBezTo>
                <a:cubicBezTo>
                  <a:pt x="83831" y="3708"/>
                  <a:pt x="78907" y="1246"/>
                  <a:pt x="73223" y="334"/>
                </a:cubicBezTo>
                <a:cubicBezTo>
                  <a:pt x="72342" y="213"/>
                  <a:pt x="71460" y="122"/>
                  <a:pt x="70579"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cxnSp>
        <p:nvCxnSpPr>
          <p:cNvPr id="14" name="Google Shape;302;p33"/>
          <p:cNvCxnSpPr/>
          <p:nvPr/>
        </p:nvCxnSpPr>
        <p:spPr>
          <a:xfrm>
            <a:off x="8430480" y="0"/>
            <a:ext cx="360" cy="398880"/>
          </a:xfrm>
          <a:prstGeom prst="straightConnector1">
            <a:avLst/>
          </a:prstGeom>
          <a:ln w="9525">
            <a:solidFill>
              <a:srgbClr val="ffffff"/>
            </a:solidFill>
            <a:round/>
            <a:tailEnd len="med" type="oval" w="med"/>
          </a:ln>
        </p:spPr>
      </p:cxn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15" name="Google Shape;42;p6" descr=""/>
          <p:cNvPicPr/>
          <p:nvPr/>
        </p:nvPicPr>
        <p:blipFill>
          <a:blip r:embed="rId2"/>
          <a:srcRect l="8122" t="14331" r="16236" b="10026"/>
          <a:stretch/>
        </p:blipFill>
        <p:spPr>
          <a:xfrm flipH="1">
            <a:off x="360" y="0"/>
            <a:ext cx="9143640" cy="5143320"/>
          </a:xfrm>
          <a:prstGeom prst="rect">
            <a:avLst/>
          </a:prstGeom>
          <a:noFill/>
          <a:ln w="0">
            <a:noFill/>
          </a:ln>
        </p:spPr>
      </p:pic>
      <p:sp>
        <p:nvSpPr>
          <p:cNvPr id="1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500" strike="noStrike" u="none">
                <a:solidFill>
                  <a:schemeClr val="dk1"/>
                </a:solidFill>
                <a:effectLst/>
                <a:uFillTx/>
                <a:latin typeface="Arial"/>
              </a:rPr>
              <a:t>Click to edit the title text format</a:t>
            </a:r>
            <a:endParaRPr b="0" lang="fr-FR" sz="3500" strike="noStrike" u="none">
              <a:solidFill>
                <a:schemeClr val="dk1"/>
              </a:solidFill>
              <a:effectLst/>
              <a:uFillTx/>
              <a:latin typeface="Arial"/>
            </a:endParaRPr>
          </a:p>
        </p:txBody>
      </p:sp>
      <p:sp>
        <p:nvSpPr>
          <p:cNvPr id="17" name="Google Shape;44;p6"/>
          <p:cNvSpPr/>
          <p:nvPr/>
        </p:nvSpPr>
        <p:spPr>
          <a:xfrm rot="2292000">
            <a:off x="5497200" y="4726440"/>
            <a:ext cx="2806200" cy="2880000"/>
          </a:xfrm>
          <a:custGeom>
            <a:avLst/>
            <a:gdLst>
              <a:gd name="textAreaLeft" fmla="*/ 0 w 2806200"/>
              <a:gd name="textAreaRight" fmla="*/ 2806560 w 2806200"/>
              <a:gd name="textAreaTop" fmla="*/ 0 h 2880000"/>
              <a:gd name="textAreaBottom" fmla="*/ 2880360 h 288000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 name="Google Shape;45;p6"/>
          <p:cNvSpPr/>
          <p:nvPr/>
        </p:nvSpPr>
        <p:spPr>
          <a:xfrm rot="8533800">
            <a:off x="-1783080" y="-1856160"/>
            <a:ext cx="2826720" cy="2688480"/>
          </a:xfrm>
          <a:custGeom>
            <a:avLst/>
            <a:gdLst>
              <a:gd name="textAreaLeft" fmla="*/ 0 w 2826720"/>
              <a:gd name="textAreaRight" fmla="*/ 2827080 w 2826720"/>
              <a:gd name="textAreaTop" fmla="*/ 0 h 2688480"/>
              <a:gd name="textAreaBottom" fmla="*/ 2688840 h 2688480"/>
            </a:gdLst>
            <a:ahLst/>
            <a:cxnLst/>
            <a:rect l="textAreaLeft" t="textAreaTop" r="textAreaRight" b="textAreaBottom"/>
            <a:pathLst>
              <a:path w="113073" h="107542">
                <a:moveTo>
                  <a:pt x="68694" y="456"/>
                </a:moveTo>
                <a:cubicBezTo>
                  <a:pt x="76020" y="456"/>
                  <a:pt x="82342" y="2979"/>
                  <a:pt x="87692" y="7994"/>
                </a:cubicBezTo>
                <a:cubicBezTo>
                  <a:pt x="93224" y="13222"/>
                  <a:pt x="98786" y="18511"/>
                  <a:pt x="104288" y="23800"/>
                </a:cubicBezTo>
                <a:cubicBezTo>
                  <a:pt x="108908" y="28237"/>
                  <a:pt x="111583" y="33648"/>
                  <a:pt x="112403" y="40001"/>
                </a:cubicBezTo>
                <a:cubicBezTo>
                  <a:pt x="112525" y="40973"/>
                  <a:pt x="112616" y="41976"/>
                  <a:pt x="112616" y="42949"/>
                </a:cubicBezTo>
                <a:cubicBezTo>
                  <a:pt x="112616" y="50153"/>
                  <a:pt x="112677" y="57356"/>
                  <a:pt x="112586" y="64560"/>
                </a:cubicBezTo>
                <a:cubicBezTo>
                  <a:pt x="112494" y="71764"/>
                  <a:pt x="109972" y="78086"/>
                  <a:pt x="104835" y="83162"/>
                </a:cubicBezTo>
                <a:cubicBezTo>
                  <a:pt x="98938" y="88998"/>
                  <a:pt x="92889" y="94712"/>
                  <a:pt x="86780" y="100336"/>
                </a:cubicBezTo>
                <a:cubicBezTo>
                  <a:pt x="82646" y="104135"/>
                  <a:pt x="77661" y="106232"/>
                  <a:pt x="72129" y="106871"/>
                </a:cubicBezTo>
                <a:cubicBezTo>
                  <a:pt x="70974" y="107023"/>
                  <a:pt x="69849" y="107053"/>
                  <a:pt x="68694" y="107053"/>
                </a:cubicBezTo>
                <a:cubicBezTo>
                  <a:pt x="64652" y="107083"/>
                  <a:pt x="60579" y="107083"/>
                  <a:pt x="56536" y="107083"/>
                </a:cubicBezTo>
                <a:lnTo>
                  <a:pt x="56536" y="107053"/>
                </a:lnTo>
                <a:cubicBezTo>
                  <a:pt x="53659" y="107053"/>
                  <a:pt x="50768" y="107094"/>
                  <a:pt x="47881" y="107094"/>
                </a:cubicBezTo>
                <a:cubicBezTo>
                  <a:pt x="46438" y="107094"/>
                  <a:pt x="44996" y="107083"/>
                  <a:pt x="43557" y="107053"/>
                </a:cubicBezTo>
                <a:cubicBezTo>
                  <a:pt x="36536" y="106901"/>
                  <a:pt x="30487" y="104348"/>
                  <a:pt x="25411" y="99545"/>
                </a:cubicBezTo>
                <a:cubicBezTo>
                  <a:pt x="19879" y="94317"/>
                  <a:pt x="14347" y="89059"/>
                  <a:pt x="8845" y="83770"/>
                </a:cubicBezTo>
                <a:cubicBezTo>
                  <a:pt x="4164" y="79302"/>
                  <a:pt x="1459" y="73770"/>
                  <a:pt x="669" y="67356"/>
                </a:cubicBezTo>
                <a:cubicBezTo>
                  <a:pt x="547" y="66353"/>
                  <a:pt x="486" y="65320"/>
                  <a:pt x="486" y="64317"/>
                </a:cubicBezTo>
                <a:cubicBezTo>
                  <a:pt x="456" y="57204"/>
                  <a:pt x="395" y="50122"/>
                  <a:pt x="486" y="43010"/>
                </a:cubicBezTo>
                <a:cubicBezTo>
                  <a:pt x="608" y="35472"/>
                  <a:pt x="3404" y="29028"/>
                  <a:pt x="8815" y="23769"/>
                </a:cubicBezTo>
                <a:cubicBezTo>
                  <a:pt x="14408" y="18389"/>
                  <a:pt x="20031" y="13070"/>
                  <a:pt x="25654" y="7751"/>
                </a:cubicBezTo>
                <a:cubicBezTo>
                  <a:pt x="30031" y="3647"/>
                  <a:pt x="35229" y="1307"/>
                  <a:pt x="41186" y="638"/>
                </a:cubicBezTo>
                <a:cubicBezTo>
                  <a:pt x="42189" y="517"/>
                  <a:pt x="43162" y="486"/>
                  <a:pt x="44165" y="486"/>
                </a:cubicBezTo>
                <a:cubicBezTo>
                  <a:pt x="52341" y="456"/>
                  <a:pt x="60518" y="456"/>
                  <a:pt x="68694" y="456"/>
                </a:cubicBezTo>
                <a:close/>
                <a:moveTo>
                  <a:pt x="42493" y="0"/>
                </a:moveTo>
                <a:cubicBezTo>
                  <a:pt x="41794" y="91"/>
                  <a:pt x="41125" y="152"/>
                  <a:pt x="40426" y="274"/>
                </a:cubicBezTo>
                <a:cubicBezTo>
                  <a:pt x="34681" y="1064"/>
                  <a:pt x="29636" y="3404"/>
                  <a:pt x="25411" y="7356"/>
                </a:cubicBezTo>
                <a:cubicBezTo>
                  <a:pt x="20487" y="11976"/>
                  <a:pt x="15623" y="16626"/>
                  <a:pt x="10730" y="21307"/>
                </a:cubicBezTo>
                <a:cubicBezTo>
                  <a:pt x="9331" y="22645"/>
                  <a:pt x="7903" y="23952"/>
                  <a:pt x="6626" y="25441"/>
                </a:cubicBezTo>
                <a:cubicBezTo>
                  <a:pt x="3100" y="29544"/>
                  <a:pt x="1003" y="34317"/>
                  <a:pt x="274" y="39697"/>
                </a:cubicBezTo>
                <a:cubicBezTo>
                  <a:pt x="152" y="40517"/>
                  <a:pt x="91" y="41368"/>
                  <a:pt x="0" y="42219"/>
                </a:cubicBezTo>
                <a:lnTo>
                  <a:pt x="0" y="65290"/>
                </a:lnTo>
                <a:cubicBezTo>
                  <a:pt x="61" y="65989"/>
                  <a:pt x="122" y="66688"/>
                  <a:pt x="213" y="67417"/>
                </a:cubicBezTo>
                <a:cubicBezTo>
                  <a:pt x="1033" y="73952"/>
                  <a:pt x="3769" y="79545"/>
                  <a:pt x="8511" y="84104"/>
                </a:cubicBezTo>
                <a:cubicBezTo>
                  <a:pt x="14043" y="89393"/>
                  <a:pt x="19575" y="94652"/>
                  <a:pt x="25137" y="99910"/>
                </a:cubicBezTo>
                <a:cubicBezTo>
                  <a:pt x="30305" y="104773"/>
                  <a:pt x="36444" y="107418"/>
                  <a:pt x="43557" y="107479"/>
                </a:cubicBezTo>
                <a:cubicBezTo>
                  <a:pt x="46974" y="107527"/>
                  <a:pt x="50390" y="107542"/>
                  <a:pt x="53806" y="107542"/>
                </a:cubicBezTo>
                <a:cubicBezTo>
                  <a:pt x="58931" y="107542"/>
                  <a:pt x="64056" y="107509"/>
                  <a:pt x="69181" y="107509"/>
                </a:cubicBezTo>
                <a:cubicBezTo>
                  <a:pt x="70032" y="107509"/>
                  <a:pt x="70883" y="107479"/>
                  <a:pt x="71734" y="107387"/>
                </a:cubicBezTo>
                <a:cubicBezTo>
                  <a:pt x="77965" y="106719"/>
                  <a:pt x="83406" y="104226"/>
                  <a:pt x="87965" y="99910"/>
                </a:cubicBezTo>
                <a:cubicBezTo>
                  <a:pt x="93467" y="94712"/>
                  <a:pt x="98968" y="89484"/>
                  <a:pt x="104440" y="84226"/>
                </a:cubicBezTo>
                <a:cubicBezTo>
                  <a:pt x="109121" y="79758"/>
                  <a:pt x="111917" y="74317"/>
                  <a:pt x="112798" y="67904"/>
                </a:cubicBezTo>
                <a:cubicBezTo>
                  <a:pt x="112920" y="67204"/>
                  <a:pt x="112981" y="66475"/>
                  <a:pt x="113072" y="65746"/>
                </a:cubicBezTo>
                <a:lnTo>
                  <a:pt x="113072" y="41763"/>
                </a:lnTo>
                <a:cubicBezTo>
                  <a:pt x="113011" y="41156"/>
                  <a:pt x="112950" y="40548"/>
                  <a:pt x="112859" y="39970"/>
                </a:cubicBezTo>
                <a:cubicBezTo>
                  <a:pt x="112008" y="33465"/>
                  <a:pt x="109273" y="27933"/>
                  <a:pt x="104561" y="23405"/>
                </a:cubicBezTo>
                <a:cubicBezTo>
                  <a:pt x="99060" y="18146"/>
                  <a:pt x="93528" y="12888"/>
                  <a:pt x="88026" y="7660"/>
                </a:cubicBezTo>
                <a:cubicBezTo>
                  <a:pt x="83831" y="3708"/>
                  <a:pt x="78907" y="1246"/>
                  <a:pt x="73223" y="334"/>
                </a:cubicBezTo>
                <a:cubicBezTo>
                  <a:pt x="72342" y="213"/>
                  <a:pt x="71460" y="122"/>
                  <a:pt x="70579"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cxnSp>
        <p:nvCxnSpPr>
          <p:cNvPr id="19" name="Google Shape;46;p6"/>
          <p:cNvCxnSpPr/>
          <p:nvPr/>
        </p:nvCxnSpPr>
        <p:spPr>
          <a:xfrm>
            <a:off x="8430480" y="0"/>
            <a:ext cx="360" cy="398880"/>
          </a:xfrm>
          <a:prstGeom prst="straightConnector1">
            <a:avLst/>
          </a:prstGeom>
          <a:ln w="9525">
            <a:solidFill>
              <a:srgbClr val="ffffff"/>
            </a:solidFill>
            <a:round/>
            <a:tailEnd len="med" type="oval" w="med"/>
          </a:ln>
        </p:spPr>
      </p:cxnSp>
      <p:sp>
        <p:nvSpPr>
          <p:cNvPr id="2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21" name="Google Shape;325;p39"/>
          <p:cNvCxnSpPr/>
          <p:nvPr/>
        </p:nvCxnSpPr>
        <p:spPr>
          <a:xfrm>
            <a:off x="2086920" y="3395520"/>
            <a:ext cx="4970160" cy="360"/>
          </a:xfrm>
          <a:prstGeom prst="straightConnector1">
            <a:avLst/>
          </a:prstGeom>
          <a:ln w="9525">
            <a:solidFill>
              <a:srgbClr val="ffffff"/>
            </a:solidFill>
            <a:round/>
            <a:headEnd len="med" type="oval" w="med"/>
            <a:tailEnd len="med" type="oval" w="med"/>
          </a:ln>
        </p:spPr>
      </p:cxnSp>
      <p:sp>
        <p:nvSpPr>
          <p:cNvPr id="22" name=""/>
          <p:cNvSpPr/>
          <p:nvPr/>
        </p:nvSpPr>
        <p:spPr>
          <a:xfrm>
            <a:off x="1095480" y="1066680"/>
            <a:ext cx="6962400" cy="571320"/>
          </a:xfrm>
          <a:prstGeom prst="rect">
            <a:avLst/>
          </a:prstGeom>
          <a:noFill/>
          <a:ln w="0">
            <a:noFill/>
          </a:ln>
        </p:spPr>
        <p:style>
          <a:lnRef idx="0"/>
          <a:fillRef idx="0"/>
          <a:effectRef idx="0"/>
          <a:fontRef idx="minor"/>
        </p:style>
        <p:txBody>
          <a:bodyPr anchor="b">
            <a:normAutofit fontScale="85000" lnSpcReduction="19999"/>
          </a:bodyPr>
          <a:p>
            <a:pPr algn="ctr" defTabSz="914400">
              <a:lnSpc>
                <a:spcPct val="100000"/>
              </a:lnSpc>
              <a:tabLst>
                <a:tab algn="l" pos="0"/>
              </a:tabLst>
            </a:pPr>
            <a:r>
              <a:rPr b="1" lang="en-US" sz="4500" strike="noStrike" u="none">
                <a:solidFill>
                  <a:srgbClr val="ffffff"/>
                </a:solidFill>
                <a:effectLst/>
                <a:uFillTx/>
                <a:latin typeface="Archivo"/>
              </a:rPr>
              <a:t>EduTrackAI</a:t>
            </a:r>
            <a:endParaRPr b="0" lang="en-US" sz="4500" strike="noStrike" u="none">
              <a:solidFill>
                <a:srgbClr val="ffffff"/>
              </a:solidFill>
              <a:effectLst/>
              <a:uFillTx/>
              <a:latin typeface="OpenSymbol"/>
            </a:endParaRPr>
          </a:p>
        </p:txBody>
      </p:sp>
      <p:sp>
        <p:nvSpPr>
          <p:cNvPr id="23" name=""/>
          <p:cNvSpPr/>
          <p:nvPr/>
        </p:nvSpPr>
        <p:spPr>
          <a:xfrm>
            <a:off x="2305080" y="3610080"/>
            <a:ext cx="4524120" cy="76176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ffffff"/>
                </a:solidFill>
                <a:effectLst/>
                <a:uFillTx/>
                <a:latin typeface="DM Sans"/>
              </a:rPr>
              <a:t>AI-Powered Personalized Learning &amp; Progress Tracking</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AI for Growth</a:t>
            </a:r>
            <a:endParaRPr b="0" lang="en-US" sz="2400" strike="noStrike" u="none">
              <a:solidFill>
                <a:srgbClr val="ffffff"/>
              </a:solidFill>
              <a:effectLst/>
              <a:uFillTx/>
              <a:latin typeface="OpenSymbol"/>
            </a:endParaRPr>
          </a:p>
        </p:txBody>
      </p:sp>
      <p:sp>
        <p:nvSpPr>
          <p:cNvPr id="25" name=""/>
          <p:cNvSpPr/>
          <p:nvPr/>
        </p:nvSpPr>
        <p:spPr>
          <a:xfrm>
            <a:off x="476280" y="1238400"/>
            <a:ext cx="8191080" cy="167616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600" strike="noStrike" u="none">
                <a:solidFill>
                  <a:srgbClr val="ffffff"/>
                </a:solidFill>
                <a:effectLst/>
                <a:uFillTx/>
                <a:latin typeface="DM Sans"/>
              </a:rPr>
              <a:t>A single integrated platform personalizes learning, tracks progress in real time, and aligns study with placement readiness. By turning passive coursework into adaptive goals and concrete milestones, students see measurable growth while faculty gain clear, actionable insights. In a hackathon, this reduces onboarding and implementation friction—delivering value with minimal overhead.</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Misalignment demands change</a:t>
            </a:r>
            <a:endParaRPr b="0" lang="en-US" sz="2400" strike="noStrike" u="none">
              <a:solidFill>
                <a:srgbClr val="ffffff"/>
              </a:solidFill>
              <a:effectLst/>
              <a:uFillTx/>
              <a:latin typeface="OpenSymbol"/>
            </a:endParaRPr>
          </a:p>
        </p:txBody>
      </p:sp>
      <p:sp>
        <p:nvSpPr>
          <p:cNvPr id="27" name=""/>
          <p:cNvSpPr/>
          <p:nvPr/>
        </p:nvSpPr>
        <p:spPr>
          <a:xfrm>
            <a:off x="476280" y="1333440"/>
            <a:ext cx="390492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Learning is treated as identical for all students, ignoring pace and gaps. Concept understanding is unclear, with few reliable checkpoints. Progress tracking is inconsistent, and remediation isn’t tied to outcomes.</a:t>
            </a:r>
            <a:endParaRPr b="0" lang="en-US" sz="1200" strike="noStrike" u="none">
              <a:solidFill>
                <a:srgbClr val="ffffff"/>
              </a:solidFill>
              <a:effectLst/>
              <a:uFillTx/>
              <a:latin typeface="OpenSymbol"/>
            </a:endParaRPr>
          </a:p>
        </p:txBody>
      </p:sp>
      <p:sp>
        <p:nvSpPr>
          <p:cNvPr id="28" name=""/>
          <p:cNvSpPr/>
          <p:nvPr/>
        </p:nvSpPr>
        <p:spPr>
          <a:xfrm>
            <a:off x="4762440" y="1333440"/>
            <a:ext cx="390492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Disengagement and frustration rise when students don’t see progress. Remediation opportunities are missed because signals never reach teachers. Placement rates suffer as educators lack visibility into readiness.</a:t>
            </a:r>
            <a:endParaRPr b="0" lang="en-US" sz="1200" strike="noStrike" u="none">
              <a:solidFill>
                <a:srgbClr val="ffffff"/>
              </a:solidFill>
              <a:effectLst/>
              <a:uFillTx/>
              <a:latin typeface="OpenSymbol"/>
            </a:endParaRPr>
          </a:p>
        </p:txBody>
      </p:sp>
      <p:sp>
        <p:nvSpPr>
          <p:cNvPr id="29"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One-size practices, unclear understanding, and weak tracking drive disengagement and poorer placement outcomes.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Unified Learning Platform</a:t>
            </a:r>
            <a:endParaRPr b="0" lang="en-US" sz="2400" strike="noStrike" u="none">
              <a:solidFill>
                <a:srgbClr val="ffffff"/>
              </a:solidFill>
              <a:effectLst/>
              <a:uFillTx/>
              <a:latin typeface="OpenSymbol"/>
            </a:endParaRPr>
          </a:p>
        </p:txBody>
      </p:sp>
      <p:sp>
        <p:nvSpPr>
          <p:cNvPr id="31" name=""/>
          <p:cNvSpPr/>
          <p:nvPr/>
        </p:nvSpPr>
        <p:spPr>
          <a:xfrm>
            <a:off x="476280" y="1238400"/>
            <a:ext cx="8191080" cy="167616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600" strike="noStrike" u="none">
                <a:solidFill>
                  <a:srgbClr val="ffffff"/>
                </a:solidFill>
                <a:effectLst/>
                <a:uFillTx/>
                <a:latin typeface="DM Sans"/>
              </a:rPr>
              <a:t>EduTrackAI unifies personalized learning, AI tutoring, assessments, and teacher analytics in a single, accessible dashboard for students and teachers. Core pillars—adaptive learning paths, an explainable AI tutor, smart quizzes, persistent progress tracking, and placement-focused practice—collaborate to drive outcomes. The result is a cohesive, data-driven platform that accelerates learning and‌)l</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
          <p:cNvSpPr/>
          <p:nvPr/>
        </p:nvSpPr>
        <p:spPr>
          <a:xfrm>
            <a:off x="2000160" y="2104920"/>
            <a:ext cx="114120" cy="9000"/>
          </a:xfrm>
          <a:prstGeom prst="roundRect">
            <a:avLst>
              <a:gd name="adj" fmla="val 16667"/>
            </a:avLst>
          </a:prstGeom>
          <a:solidFill>
            <a:srgbClr val="ffffff"/>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3" name=""/>
          <p:cNvSpPr/>
          <p:nvPr/>
        </p:nvSpPr>
        <p:spPr>
          <a:xfrm>
            <a:off x="3638520" y="2104920"/>
            <a:ext cx="114120" cy="9000"/>
          </a:xfrm>
          <a:prstGeom prst="roundRect">
            <a:avLst>
              <a:gd name="adj" fmla="val 16667"/>
            </a:avLst>
          </a:prstGeom>
          <a:solidFill>
            <a:srgbClr val="ffffff"/>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4" name=""/>
          <p:cNvSpPr/>
          <p:nvPr/>
        </p:nvSpPr>
        <p:spPr>
          <a:xfrm>
            <a:off x="5276880" y="2104920"/>
            <a:ext cx="114120" cy="9000"/>
          </a:xfrm>
          <a:prstGeom prst="roundRect">
            <a:avLst>
              <a:gd name="adj" fmla="val 16667"/>
            </a:avLst>
          </a:prstGeom>
          <a:solidFill>
            <a:srgbClr val="ffffff"/>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5" name=""/>
          <p:cNvSpPr/>
          <p:nvPr/>
        </p:nvSpPr>
        <p:spPr>
          <a:xfrm>
            <a:off x="6915240" y="2104920"/>
            <a:ext cx="114120" cy="9000"/>
          </a:xfrm>
          <a:prstGeom prst="roundRect">
            <a:avLst>
              <a:gd name="adj" fmla="val 16667"/>
            </a:avLst>
          </a:prstGeom>
          <a:solidFill>
            <a:srgbClr val="ffffff"/>
          </a:solidFill>
          <a:ln w="0">
            <a:noFill/>
          </a:ln>
        </p:spPr>
        <p:style>
          <a:lnRef idx="0"/>
          <a:fillRef idx="0"/>
          <a:effectRef idx="0"/>
          <a:fontRef idx="minor"/>
        </p:style>
        <p:txBody>
          <a:bodyPr vertOverflow="clip" lIns="90000" rIns="90000" tIns="-36720" bIns="-367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6" name=""/>
          <p:cNvSpPr/>
          <p:nvPr/>
        </p:nvSpPr>
        <p:spPr>
          <a:xfrm>
            <a:off x="476280" y="2000160"/>
            <a:ext cx="1523520" cy="2091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7" name=""/>
          <p:cNvSpPr/>
          <p:nvPr/>
        </p:nvSpPr>
        <p:spPr>
          <a:xfrm>
            <a:off x="1238400" y="2209680"/>
            <a:ext cx="9000" cy="3236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8" name=""/>
          <p:cNvSpPr/>
          <p:nvPr/>
        </p:nvSpPr>
        <p:spPr>
          <a:xfrm>
            <a:off x="2114640" y="2000160"/>
            <a:ext cx="1523520" cy="2091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39" name=""/>
          <p:cNvSpPr/>
          <p:nvPr/>
        </p:nvSpPr>
        <p:spPr>
          <a:xfrm>
            <a:off x="2876400" y="2209680"/>
            <a:ext cx="9000" cy="3236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0" name=""/>
          <p:cNvSpPr/>
          <p:nvPr/>
        </p:nvSpPr>
        <p:spPr>
          <a:xfrm>
            <a:off x="3753000" y="2000160"/>
            <a:ext cx="1523520" cy="2091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1" name=""/>
          <p:cNvSpPr/>
          <p:nvPr/>
        </p:nvSpPr>
        <p:spPr>
          <a:xfrm>
            <a:off x="4514760" y="2209680"/>
            <a:ext cx="9000" cy="3236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2" name=""/>
          <p:cNvSpPr/>
          <p:nvPr/>
        </p:nvSpPr>
        <p:spPr>
          <a:xfrm>
            <a:off x="5391000" y="2000160"/>
            <a:ext cx="1523520" cy="2091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 name=""/>
          <p:cNvSpPr/>
          <p:nvPr/>
        </p:nvSpPr>
        <p:spPr>
          <a:xfrm>
            <a:off x="6153120" y="2209680"/>
            <a:ext cx="9000" cy="3236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4" name=""/>
          <p:cNvSpPr/>
          <p:nvPr/>
        </p:nvSpPr>
        <p:spPr>
          <a:xfrm>
            <a:off x="7029360" y="2000160"/>
            <a:ext cx="1523520" cy="2091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5" name=""/>
          <p:cNvSpPr/>
          <p:nvPr/>
        </p:nvSpPr>
        <p:spPr>
          <a:xfrm>
            <a:off x="7791480" y="2209680"/>
            <a:ext cx="9000" cy="3236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6"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ffffff"/>
                </a:solidFill>
                <a:effectLst/>
                <a:uFillTx/>
                <a:latin typeface="Archivo"/>
              </a:rPr>
              <a:t>User Workflow</a:t>
            </a:r>
            <a:endParaRPr b="0" lang="en-US" sz="2600" strike="noStrike" u="none">
              <a:solidFill>
                <a:srgbClr val="ffffff"/>
              </a:solidFill>
              <a:effectLst/>
              <a:uFillTx/>
              <a:latin typeface="OpenSymbol"/>
            </a:endParaRPr>
          </a:p>
        </p:txBody>
      </p:sp>
      <p:sp>
        <p:nvSpPr>
          <p:cNvPr id="47" name=""/>
          <p:cNvSpPr/>
          <p:nvPr/>
        </p:nvSpPr>
        <p:spPr>
          <a:xfrm>
            <a:off x="47628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ffffff"/>
                </a:solidFill>
                <a:effectLst/>
                <a:uFillTx/>
                <a:latin typeface="Archivo"/>
              </a:rPr>
              <a:t>Login</a:t>
            </a:r>
            <a:endParaRPr b="0" lang="en-US" sz="1400" strike="noStrike" u="none">
              <a:solidFill>
                <a:srgbClr val="ffffff"/>
              </a:solidFill>
              <a:effectLst/>
              <a:uFillTx/>
              <a:latin typeface="OpenSymbol"/>
            </a:endParaRPr>
          </a:p>
        </p:txBody>
      </p:sp>
      <p:sp>
        <p:nvSpPr>
          <p:cNvPr id="48" name=""/>
          <p:cNvSpPr/>
          <p:nvPr/>
        </p:nvSpPr>
        <p:spPr>
          <a:xfrm>
            <a:off x="476280" y="2619360"/>
            <a:ext cx="1523520" cy="91404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0" lang="en-US" sz="1200" strike="noStrike" u="none">
                <a:solidFill>
                  <a:srgbClr val="ffffff"/>
                </a:solidFill>
                <a:effectLst/>
                <a:uFillTx/>
                <a:latin typeface="DM Sans"/>
              </a:rPr>
              <a:t>Secure access to a personalized learning space with single sign-on and role-based views.</a:t>
            </a:r>
            <a:endParaRPr b="0" lang="en-US" sz="1200" strike="noStrike" u="none">
              <a:solidFill>
                <a:srgbClr val="ffffff"/>
              </a:solidFill>
              <a:effectLst/>
              <a:uFillTx/>
              <a:latin typeface="OpenSymbol"/>
            </a:endParaRPr>
          </a:p>
        </p:txBody>
      </p:sp>
      <p:sp>
        <p:nvSpPr>
          <p:cNvPr id="49" name=""/>
          <p:cNvSpPr/>
          <p:nvPr/>
        </p:nvSpPr>
        <p:spPr>
          <a:xfrm>
            <a:off x="211464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ffffff"/>
                </a:solidFill>
                <a:effectLst/>
                <a:uFillTx/>
                <a:latin typeface="Archivo"/>
              </a:rPr>
              <a:t>Dashboard</a:t>
            </a:r>
            <a:endParaRPr b="0" lang="en-US" sz="1400" strike="noStrike" u="none">
              <a:solidFill>
                <a:srgbClr val="ffffff"/>
              </a:solidFill>
              <a:effectLst/>
              <a:uFillTx/>
              <a:latin typeface="OpenSymbol"/>
            </a:endParaRPr>
          </a:p>
        </p:txBody>
      </p:sp>
      <p:sp>
        <p:nvSpPr>
          <p:cNvPr id="50" name=""/>
          <p:cNvSpPr/>
          <p:nvPr/>
        </p:nvSpPr>
        <p:spPr>
          <a:xfrm>
            <a:off x="2114640" y="2619360"/>
            <a:ext cx="1523520" cy="109512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ffffff"/>
                </a:solidFill>
                <a:effectLst/>
                <a:uFillTx/>
                <a:latin typeface="DM Sans"/>
              </a:rPr>
              <a:t>Personalized recommendations surface the right lessons and pacing based on goals and history.</a:t>
            </a:r>
            <a:endParaRPr b="0" lang="en-US" sz="1200" strike="noStrike" u="none">
              <a:solidFill>
                <a:srgbClr val="ffffff"/>
              </a:solidFill>
              <a:effectLst/>
              <a:uFillTx/>
              <a:latin typeface="OpenSymbol"/>
            </a:endParaRPr>
          </a:p>
        </p:txBody>
      </p:sp>
      <p:sp>
        <p:nvSpPr>
          <p:cNvPr id="51" name=""/>
          <p:cNvSpPr/>
          <p:nvPr/>
        </p:nvSpPr>
        <p:spPr>
          <a:xfrm>
            <a:off x="375300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ffffff"/>
                </a:solidFill>
                <a:effectLst/>
                <a:uFillTx/>
                <a:latin typeface="Archivo"/>
              </a:rPr>
              <a:t>Learn</a:t>
            </a:r>
            <a:endParaRPr b="0" lang="en-US" sz="1400" strike="noStrike" u="none">
              <a:solidFill>
                <a:srgbClr val="ffffff"/>
              </a:solidFill>
              <a:effectLst/>
              <a:uFillTx/>
              <a:latin typeface="OpenSymbol"/>
            </a:endParaRPr>
          </a:p>
        </p:txBody>
      </p:sp>
      <p:sp>
        <p:nvSpPr>
          <p:cNvPr id="52" name=""/>
          <p:cNvSpPr/>
          <p:nvPr/>
        </p:nvSpPr>
        <p:spPr>
          <a:xfrm>
            <a:off x="3753000" y="2619360"/>
            <a:ext cx="1523520" cy="914040"/>
          </a:xfrm>
          <a:prstGeom prst="rect">
            <a:avLst/>
          </a:prstGeom>
          <a:noFill/>
          <a:ln w="0">
            <a:noFill/>
          </a:ln>
        </p:spPr>
        <p:style>
          <a:lnRef idx="0"/>
          <a:fillRef idx="0"/>
          <a:effectRef idx="0"/>
          <a:fontRef idx="minor"/>
        </p:style>
        <p:txBody>
          <a:bodyPr anchor="t">
            <a:normAutofit/>
          </a:bodyPr>
          <a:p>
            <a:pPr algn="ctr" defTabSz="914400">
              <a:lnSpc>
                <a:spcPct val="100000"/>
              </a:lnSpc>
              <a:tabLst>
                <a:tab algn="l" pos="0"/>
              </a:tabLst>
            </a:pPr>
            <a:r>
              <a:rPr b="0" lang="en-US" sz="1200" strike="noStrike" u="none">
                <a:solidFill>
                  <a:srgbClr val="ffffff"/>
                </a:solidFill>
                <a:effectLst/>
                <a:uFillTx/>
                <a:latin typeface="DM Sans"/>
              </a:rPr>
              <a:t>Micro-lessons deliver focused content in short sessions to fit busy student schedules.</a:t>
            </a:r>
            <a:endParaRPr b="0" lang="en-US" sz="1200" strike="noStrike" u="none">
              <a:solidFill>
                <a:srgbClr val="ffffff"/>
              </a:solidFill>
              <a:effectLst/>
              <a:uFillTx/>
              <a:latin typeface="OpenSymbol"/>
            </a:endParaRPr>
          </a:p>
        </p:txBody>
      </p:sp>
      <p:sp>
        <p:nvSpPr>
          <p:cNvPr id="53" name=""/>
          <p:cNvSpPr/>
          <p:nvPr/>
        </p:nvSpPr>
        <p:spPr>
          <a:xfrm>
            <a:off x="539100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ffffff"/>
                </a:solidFill>
                <a:effectLst/>
                <a:uFillTx/>
                <a:latin typeface="Archivo"/>
              </a:rPr>
              <a:t>Ask AI</a:t>
            </a:r>
            <a:endParaRPr b="0" lang="en-US" sz="1400" strike="noStrike" u="none">
              <a:solidFill>
                <a:srgbClr val="ffffff"/>
              </a:solidFill>
              <a:effectLst/>
              <a:uFillTx/>
              <a:latin typeface="OpenSymbol"/>
            </a:endParaRPr>
          </a:p>
        </p:txBody>
      </p:sp>
      <p:sp>
        <p:nvSpPr>
          <p:cNvPr id="54" name=""/>
          <p:cNvSpPr/>
          <p:nvPr/>
        </p:nvSpPr>
        <p:spPr>
          <a:xfrm>
            <a:off x="5391000" y="2619360"/>
            <a:ext cx="1523520" cy="914040"/>
          </a:xfrm>
          <a:prstGeom prst="rect">
            <a:avLst/>
          </a:prstGeom>
          <a:noFill/>
          <a:ln w="0">
            <a:noFill/>
          </a:ln>
        </p:spPr>
        <p:style>
          <a:lnRef idx="0"/>
          <a:fillRef idx="0"/>
          <a:effectRef idx="0"/>
          <a:fontRef idx="minor"/>
        </p:style>
        <p:txBody>
          <a:bodyPr anchor="t">
            <a:normAutofit lnSpcReduction="9999"/>
          </a:bodyPr>
          <a:p>
            <a:pPr algn="ctr" defTabSz="914400">
              <a:lnSpc>
                <a:spcPct val="100000"/>
              </a:lnSpc>
              <a:tabLst>
                <a:tab algn="l" pos="0"/>
              </a:tabLst>
            </a:pPr>
            <a:r>
              <a:rPr b="0" lang="en-US" sz="1200" strike="noStrike" u="none">
                <a:solidFill>
                  <a:srgbClr val="ffffff"/>
                </a:solidFill>
                <a:effectLst/>
                <a:uFillTx/>
                <a:latin typeface="DM Sans"/>
              </a:rPr>
              <a:t>Contextual tutoring: ask questions, get explanations, and clarify concepts in real time.</a:t>
            </a:r>
            <a:endParaRPr b="0" lang="en-US" sz="1200" strike="noStrike" u="none">
              <a:solidFill>
                <a:srgbClr val="ffffff"/>
              </a:solidFill>
              <a:effectLst/>
              <a:uFillTx/>
              <a:latin typeface="OpenSymbol"/>
            </a:endParaRPr>
          </a:p>
        </p:txBody>
      </p:sp>
      <p:sp>
        <p:nvSpPr>
          <p:cNvPr id="55" name=""/>
          <p:cNvSpPr/>
          <p:nvPr/>
        </p:nvSpPr>
        <p:spPr>
          <a:xfrm>
            <a:off x="7029360" y="1219320"/>
            <a:ext cx="1523520" cy="209160"/>
          </a:xfrm>
          <a:prstGeom prst="rect">
            <a:avLst/>
          </a:prstGeom>
          <a:noFill/>
          <a:ln w="0">
            <a:noFill/>
          </a:ln>
        </p:spPr>
        <p:style>
          <a:lnRef idx="0"/>
          <a:fillRef idx="0"/>
          <a:effectRef idx="0"/>
          <a:fontRef idx="minor"/>
        </p:style>
        <p:txBody>
          <a:bodyPr anchor="t">
            <a:normAutofit fontScale="62500" lnSpcReduction="19999"/>
          </a:bodyPr>
          <a:p>
            <a:pPr algn="ctr" defTabSz="914400">
              <a:lnSpc>
                <a:spcPct val="100000"/>
              </a:lnSpc>
              <a:tabLst>
                <a:tab algn="l" pos="0"/>
              </a:tabLst>
            </a:pPr>
            <a:r>
              <a:rPr b="0" lang="en-US" sz="1400" strike="noStrike" u="none">
                <a:solidFill>
                  <a:srgbClr val="ffffff"/>
                </a:solidFill>
                <a:effectLst/>
                <a:uFillTx/>
                <a:latin typeface="Archivo"/>
              </a:rPr>
              <a:t>Practi ce</a:t>
            </a:r>
            <a:endParaRPr b="0" lang="en-US" sz="1400" strike="noStrike" u="none">
              <a:solidFill>
                <a:srgbClr val="ffffff"/>
              </a:solidFill>
              <a:effectLst/>
              <a:uFillTx/>
              <a:latin typeface="OpenSymbol"/>
            </a:endParaRPr>
          </a:p>
        </p:txBody>
      </p:sp>
      <p:sp>
        <p:nvSpPr>
          <p:cNvPr id="56" name=""/>
          <p:cNvSpPr/>
          <p:nvPr/>
        </p:nvSpPr>
        <p:spPr>
          <a:xfrm>
            <a:off x="7029360" y="2619360"/>
            <a:ext cx="1523520" cy="732960"/>
          </a:xfrm>
          <a:prstGeom prst="rect">
            <a:avLst/>
          </a:prstGeom>
          <a:noFill/>
          <a:ln w="0">
            <a:noFill/>
          </a:ln>
        </p:spPr>
        <p:style>
          <a:lnRef idx="0"/>
          <a:fillRef idx="0"/>
          <a:effectRef idx="0"/>
          <a:fontRef idx="minor"/>
        </p:style>
        <p:txBody>
          <a:bodyPr anchor="t">
            <a:normAutofit fontScale="92500" lnSpcReduction="9999"/>
          </a:bodyPr>
          <a:p>
            <a:pPr algn="ctr" defTabSz="914400">
              <a:lnSpc>
                <a:spcPct val="100000"/>
              </a:lnSpc>
              <a:tabLst>
                <a:tab algn="l" pos="0"/>
              </a:tabLst>
            </a:pPr>
            <a:r>
              <a:rPr b="0" lang="en-US" sz="1200" strike="noStrike" u="none">
                <a:solidFill>
                  <a:srgbClr val="ffffff"/>
                </a:solidFill>
                <a:effectLst/>
                <a:uFillTx/>
                <a:latin typeface="DM Sans"/>
              </a:rPr>
              <a:t>Interactive quizzes reinforce concepts while coding tasks build hands-on skills.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476280" y="1866960"/>
            <a:ext cx="1914120" cy="280008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8" name=""/>
          <p:cNvSpPr/>
          <p:nvPr/>
        </p:nvSpPr>
        <p:spPr>
          <a:xfrm>
            <a:off x="2523960" y="1866960"/>
            <a:ext cx="1914120" cy="280008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59" name=""/>
          <p:cNvSpPr/>
          <p:nvPr/>
        </p:nvSpPr>
        <p:spPr>
          <a:xfrm>
            <a:off x="4572000" y="1866960"/>
            <a:ext cx="1914120" cy="280008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60" name=""/>
          <p:cNvSpPr/>
          <p:nvPr/>
        </p:nvSpPr>
        <p:spPr>
          <a:xfrm>
            <a:off x="6620040" y="1866960"/>
            <a:ext cx="1914120" cy="280008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61"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ffffff"/>
                </a:solidFill>
                <a:effectLst/>
                <a:uFillTx/>
                <a:latin typeface="Archivo"/>
              </a:rPr>
              <a:t>Learning Cycle</a:t>
            </a:r>
            <a:endParaRPr b="0" lang="en-US" sz="2600" strike="noStrike" u="none">
              <a:solidFill>
                <a:srgbClr val="ffffff"/>
              </a:solidFill>
              <a:effectLst/>
              <a:uFillTx/>
              <a:latin typeface="OpenSymbol"/>
            </a:endParaRPr>
          </a:p>
        </p:txBody>
      </p:sp>
      <p:sp>
        <p:nvSpPr>
          <p:cNvPr id="62"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ffffff"/>
                </a:solidFill>
                <a:effectLst/>
                <a:uFillTx/>
                <a:latin typeface="Archivo"/>
              </a:rPr>
              <a:t>06</a:t>
            </a:r>
            <a:endParaRPr b="0" lang="en-US" sz="2400" strike="noStrike" u="none">
              <a:solidFill>
                <a:srgbClr val="ffffff"/>
              </a:solidFill>
              <a:effectLst/>
              <a:uFillTx/>
              <a:latin typeface="OpenSymbol"/>
            </a:endParaRPr>
          </a:p>
        </p:txBody>
      </p:sp>
      <p:sp>
        <p:nvSpPr>
          <p:cNvPr id="63" name=""/>
          <p:cNvSpPr/>
          <p:nvPr/>
        </p:nvSpPr>
        <p:spPr>
          <a:xfrm>
            <a:off x="66672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1c5383"/>
                </a:solidFill>
                <a:effectLst/>
                <a:uFillTx/>
                <a:latin typeface="Archivo"/>
              </a:rPr>
              <a:t>Login</a:t>
            </a:r>
            <a:endParaRPr b="0" lang="en-US" sz="1800" strike="noStrike" u="none">
              <a:solidFill>
                <a:srgbClr val="ffffff"/>
              </a:solidFill>
              <a:effectLst/>
              <a:uFillTx/>
              <a:latin typeface="OpenSymbol"/>
            </a:endParaRPr>
          </a:p>
        </p:txBody>
      </p:sp>
      <p:sp>
        <p:nvSpPr>
          <p:cNvPr id="64" name=""/>
          <p:cNvSpPr/>
          <p:nvPr/>
        </p:nvSpPr>
        <p:spPr>
          <a:xfrm>
            <a:off x="66672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c5383"/>
                </a:solidFill>
                <a:effectLst/>
                <a:uFillTx/>
                <a:latin typeface="DM Sans"/>
              </a:rPr>
              <a:t>Access secure account with single sign-on.</a:t>
            </a:r>
            <a:endParaRPr b="0" lang="en-US" sz="1200" strike="noStrike" u="none">
              <a:solidFill>
                <a:srgbClr val="ffffff"/>
              </a:solidFill>
              <a:effectLst/>
              <a:uFillTx/>
              <a:latin typeface="OpenSymbol"/>
            </a:endParaRPr>
          </a:p>
        </p:txBody>
      </p:sp>
      <p:sp>
        <p:nvSpPr>
          <p:cNvPr id="65"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ffffff"/>
                </a:solidFill>
                <a:effectLst/>
                <a:uFillTx/>
                <a:latin typeface="Archivo"/>
              </a:rPr>
              <a:t>07</a:t>
            </a:r>
            <a:endParaRPr b="0" lang="en-US" sz="2400" strike="noStrike" u="none">
              <a:solidFill>
                <a:srgbClr val="ffffff"/>
              </a:solidFill>
              <a:effectLst/>
              <a:uFillTx/>
              <a:latin typeface="OpenSymbol"/>
            </a:endParaRPr>
          </a:p>
        </p:txBody>
      </p:sp>
      <p:sp>
        <p:nvSpPr>
          <p:cNvPr id="66" name=""/>
          <p:cNvSpPr/>
          <p:nvPr/>
        </p:nvSpPr>
        <p:spPr>
          <a:xfrm>
            <a:off x="271476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1c5383"/>
                </a:solidFill>
                <a:effectLst/>
                <a:uFillTx/>
                <a:latin typeface="Archivo"/>
              </a:rPr>
              <a:t>Dashboard</a:t>
            </a:r>
            <a:endParaRPr b="0" lang="en-US" sz="1800" strike="noStrike" u="none">
              <a:solidFill>
                <a:srgbClr val="ffffff"/>
              </a:solidFill>
              <a:effectLst/>
              <a:uFillTx/>
              <a:latin typeface="OpenSymbol"/>
            </a:endParaRPr>
          </a:p>
        </p:txBody>
      </p:sp>
      <p:sp>
        <p:nvSpPr>
          <p:cNvPr id="67" name=""/>
          <p:cNvSpPr/>
          <p:nvPr/>
        </p:nvSpPr>
        <p:spPr>
          <a:xfrm>
            <a:off x="2714760" y="2666880"/>
            <a:ext cx="153324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c5383"/>
                </a:solidFill>
                <a:effectLst/>
                <a:uFillTx/>
                <a:latin typeface="DM Sans"/>
              </a:rPr>
              <a:t>Receive personalized recommendations at a glance.</a:t>
            </a:r>
            <a:endParaRPr b="0" lang="en-US" sz="1200" strike="noStrike" u="none">
              <a:solidFill>
                <a:srgbClr val="ffffff"/>
              </a:solidFill>
              <a:effectLst/>
              <a:uFillTx/>
              <a:latin typeface="OpenSymbol"/>
            </a:endParaRPr>
          </a:p>
        </p:txBody>
      </p:sp>
      <p:sp>
        <p:nvSpPr>
          <p:cNvPr id="68"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ffffff"/>
                </a:solidFill>
                <a:effectLst/>
                <a:uFillTx/>
                <a:latin typeface="Archivo"/>
              </a:rPr>
              <a:t>08</a:t>
            </a:r>
            <a:endParaRPr b="0" lang="en-US" sz="2400" strike="noStrike" u="none">
              <a:solidFill>
                <a:srgbClr val="ffffff"/>
              </a:solidFill>
              <a:effectLst/>
              <a:uFillTx/>
              <a:latin typeface="OpenSymbol"/>
            </a:endParaRPr>
          </a:p>
        </p:txBody>
      </p:sp>
      <p:sp>
        <p:nvSpPr>
          <p:cNvPr id="69" name=""/>
          <p:cNvSpPr/>
          <p:nvPr/>
        </p:nvSpPr>
        <p:spPr>
          <a:xfrm>
            <a:off x="476244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1c5383"/>
                </a:solidFill>
                <a:effectLst/>
                <a:uFillTx/>
                <a:latin typeface="Archivo"/>
              </a:rPr>
              <a:t>Learn</a:t>
            </a:r>
            <a:endParaRPr b="0" lang="en-US" sz="1800" strike="noStrike" u="none">
              <a:solidFill>
                <a:srgbClr val="ffffff"/>
              </a:solidFill>
              <a:effectLst/>
              <a:uFillTx/>
              <a:latin typeface="OpenSymbol"/>
            </a:endParaRPr>
          </a:p>
        </p:txBody>
      </p:sp>
      <p:sp>
        <p:nvSpPr>
          <p:cNvPr id="70" name=""/>
          <p:cNvSpPr/>
          <p:nvPr/>
        </p:nvSpPr>
        <p:spPr>
          <a:xfrm>
            <a:off x="476244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c5383"/>
                </a:solidFill>
                <a:effectLst/>
                <a:uFillTx/>
                <a:latin typeface="DM Sans"/>
              </a:rPr>
              <a:t>Engage micro-lessons tailored to goals.</a:t>
            </a:r>
            <a:endParaRPr b="0" lang="en-US" sz="1200" strike="noStrike" u="none">
              <a:solidFill>
                <a:srgbClr val="ffffff"/>
              </a:solidFill>
              <a:effectLst/>
              <a:uFillTx/>
              <a:latin typeface="OpenSymbol"/>
            </a:endParaRPr>
          </a:p>
        </p:txBody>
      </p:sp>
      <p:sp>
        <p:nvSpPr>
          <p:cNvPr id="71"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ffffff"/>
                </a:solidFill>
                <a:effectLst/>
                <a:uFillTx/>
                <a:latin typeface="Archivo"/>
              </a:rPr>
              <a:t>09</a:t>
            </a:r>
            <a:endParaRPr b="0" lang="en-US" sz="2400" strike="noStrike" u="none">
              <a:solidFill>
                <a:srgbClr val="ffffff"/>
              </a:solidFill>
              <a:effectLst/>
              <a:uFillTx/>
              <a:latin typeface="OpenSymbol"/>
            </a:endParaRPr>
          </a:p>
        </p:txBody>
      </p:sp>
      <p:sp>
        <p:nvSpPr>
          <p:cNvPr id="72" name=""/>
          <p:cNvSpPr/>
          <p:nvPr/>
        </p:nvSpPr>
        <p:spPr>
          <a:xfrm>
            <a:off x="681048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1c5383"/>
                </a:solidFill>
                <a:effectLst/>
                <a:uFillTx/>
                <a:latin typeface="Archivo"/>
              </a:rPr>
              <a:t>Ask AI</a:t>
            </a:r>
            <a:endParaRPr b="0" lang="en-US" sz="1800" strike="noStrike" u="none">
              <a:solidFill>
                <a:srgbClr val="ffffff"/>
              </a:solidFill>
              <a:effectLst/>
              <a:uFillTx/>
              <a:latin typeface="OpenSymbol"/>
            </a:endParaRPr>
          </a:p>
        </p:txBody>
      </p:sp>
      <p:sp>
        <p:nvSpPr>
          <p:cNvPr id="73" name=""/>
          <p:cNvSpPr/>
          <p:nvPr/>
        </p:nvSpPr>
        <p:spPr>
          <a:xfrm>
            <a:off x="681048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1c5383"/>
                </a:solidFill>
                <a:effectLst/>
                <a:uFillTx/>
                <a:latin typeface="DM Sans"/>
              </a:rPr>
              <a:t>Get contextual help and clarifications.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Student MVP Metrics</a:t>
            </a:r>
            <a:endParaRPr b="0" lang="en-US" sz="2400" strike="noStrike" u="none">
              <a:solidFill>
                <a:srgbClr val="ffffff"/>
              </a:solidFill>
              <a:effectLst/>
              <a:uFillTx/>
              <a:latin typeface="OpenSymbol"/>
            </a:endParaRPr>
          </a:p>
        </p:txBody>
      </p:sp>
      <p:sp>
        <p:nvSpPr>
          <p:cNvPr id="75" name=""/>
          <p:cNvSpPr/>
          <p:nvPr/>
        </p:nvSpPr>
        <p:spPr>
          <a:xfrm>
            <a:off x="476280" y="142884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1" lang="en-US" sz="3600" strike="noStrike" u="none">
                <a:solidFill>
                  <a:srgbClr val="ffffff"/>
                </a:solidFill>
                <a:effectLst/>
                <a:uFillTx/>
                <a:latin typeface="Archivo"/>
              </a:rPr>
              <a:t>5</a:t>
            </a:r>
            <a:endParaRPr b="0" lang="en-US" sz="3600" strike="noStrike" u="none">
              <a:solidFill>
                <a:srgbClr val="ffffff"/>
              </a:solidFill>
              <a:effectLst/>
              <a:uFillTx/>
              <a:latin typeface="OpenSymbol"/>
            </a:endParaRPr>
          </a:p>
        </p:txBody>
      </p:sp>
      <p:sp>
        <p:nvSpPr>
          <p:cNvPr id="76" name=""/>
          <p:cNvSpPr/>
          <p:nvPr/>
        </p:nvSpPr>
        <p:spPr>
          <a:xfrm>
            <a:off x="3809880" y="142884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Modules in MVP</a:t>
            </a:r>
            <a:endParaRPr b="0" lang="en-US" sz="1400" strike="noStrike" u="none">
              <a:solidFill>
                <a:srgbClr val="ffffff"/>
              </a:solidFill>
              <a:effectLst/>
              <a:uFillTx/>
              <a:latin typeface="OpenSymbol"/>
            </a:endParaRPr>
          </a:p>
        </p:txBody>
      </p:sp>
      <p:sp>
        <p:nvSpPr>
          <p:cNvPr id="77" name=""/>
          <p:cNvSpPr/>
          <p:nvPr/>
        </p:nvSpPr>
        <p:spPr>
          <a:xfrm>
            <a:off x="476280" y="207648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1" lang="en-US" sz="3600" strike="noStrike" u="none">
                <a:solidFill>
                  <a:srgbClr val="ffffff"/>
                </a:solidFill>
                <a:effectLst/>
                <a:uFillTx/>
                <a:latin typeface="Archivo"/>
              </a:rPr>
              <a:t>21</a:t>
            </a:r>
            <a:endParaRPr b="0" lang="en-US" sz="3600" strike="noStrike" u="none">
              <a:solidFill>
                <a:srgbClr val="ffffff"/>
              </a:solidFill>
              <a:effectLst/>
              <a:uFillTx/>
              <a:latin typeface="OpenSymbol"/>
            </a:endParaRPr>
          </a:p>
        </p:txBody>
      </p:sp>
      <p:sp>
        <p:nvSpPr>
          <p:cNvPr id="78" name=""/>
          <p:cNvSpPr/>
          <p:nvPr/>
        </p:nvSpPr>
        <p:spPr>
          <a:xfrm>
            <a:off x="3809880" y="207648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Total lessons across modules</a:t>
            </a:r>
            <a:endParaRPr b="0" lang="en-US" sz="1400" strike="noStrike" u="none">
              <a:solidFill>
                <a:srgbClr val="ffffff"/>
              </a:solidFill>
              <a:effectLst/>
              <a:uFillTx/>
              <a:latin typeface="OpenSymbol"/>
            </a:endParaRPr>
          </a:p>
        </p:txBody>
      </p:sp>
      <p:sp>
        <p:nvSpPr>
          <p:cNvPr id="79" name=""/>
          <p:cNvSpPr/>
          <p:nvPr/>
        </p:nvSpPr>
        <p:spPr>
          <a:xfrm>
            <a:off x="476280" y="272412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1" lang="en-US" sz="3600" strike="noStrike" u="none">
                <a:solidFill>
                  <a:srgbClr val="ffffff"/>
                </a:solidFill>
                <a:effectLst/>
                <a:uFillTx/>
                <a:latin typeface="Archivo"/>
              </a:rPr>
              <a:t>6</a:t>
            </a:r>
            <a:endParaRPr b="0" lang="en-US" sz="3600" strike="noStrike" u="none">
              <a:solidFill>
                <a:srgbClr val="ffffff"/>
              </a:solidFill>
              <a:effectLst/>
              <a:uFillTx/>
              <a:latin typeface="OpenSymbol"/>
            </a:endParaRPr>
          </a:p>
        </p:txBody>
      </p:sp>
      <p:sp>
        <p:nvSpPr>
          <p:cNvPr id="80" name=""/>
          <p:cNvSpPr/>
          <p:nvPr/>
        </p:nvSpPr>
        <p:spPr>
          <a:xfrm>
            <a:off x="3809880" y="272412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AI Tutor prompt modes</a:t>
            </a:r>
            <a:endParaRPr b="0" lang="en-US" sz="1400" strike="noStrike" u="none">
              <a:solidFill>
                <a:srgbClr val="ffffff"/>
              </a:solidFill>
              <a:effectLst/>
              <a:uFillTx/>
              <a:latin typeface="OpenSymbol"/>
            </a:endParaRPr>
          </a:p>
        </p:txBody>
      </p:sp>
      <p:sp>
        <p:nvSpPr>
          <p:cNvPr id="81" name=""/>
          <p:cNvSpPr/>
          <p:nvPr/>
        </p:nvSpPr>
        <p:spPr>
          <a:xfrm>
            <a:off x="476280" y="337176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1" lang="en-US" sz="3600" strike="noStrike" u="none">
                <a:solidFill>
                  <a:srgbClr val="ffffff"/>
                </a:solidFill>
                <a:effectLst/>
                <a:uFillTx/>
                <a:latin typeface="Archivo"/>
              </a:rPr>
              <a:t>3</a:t>
            </a:r>
            <a:endParaRPr b="0" lang="en-US" sz="3600" strike="noStrike" u="none">
              <a:solidFill>
                <a:srgbClr val="ffffff"/>
              </a:solidFill>
              <a:effectLst/>
              <a:uFillTx/>
              <a:latin typeface="OpenSymbol"/>
            </a:endParaRPr>
          </a:p>
        </p:txBody>
      </p:sp>
      <p:sp>
        <p:nvSpPr>
          <p:cNvPr id="82" name=""/>
          <p:cNvSpPr/>
          <p:nvPr/>
        </p:nvSpPr>
        <p:spPr>
          <a:xfrm>
            <a:off x="3809880" y="337176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Languages supported</a:t>
            </a:r>
            <a:endParaRPr b="0" lang="en-US" sz="1400" strike="noStrike" u="none">
              <a:solidFill>
                <a:srgbClr val="ffffff"/>
              </a:solidFill>
              <a:effectLst/>
              <a:uFillTx/>
              <a:latin typeface="OpenSymbol"/>
            </a:endParaRPr>
          </a:p>
        </p:txBody>
      </p:sp>
      <p:sp>
        <p:nvSpPr>
          <p:cNvPr id="83" name=""/>
          <p:cNvSpPr/>
          <p:nvPr/>
        </p:nvSpPr>
        <p:spPr>
          <a:xfrm>
            <a:off x="476280" y="4019400"/>
            <a:ext cx="304776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1" lang="en-US" sz="3600" strike="noStrike" u="none">
                <a:solidFill>
                  <a:srgbClr val="ffffff"/>
                </a:solidFill>
                <a:effectLst/>
                <a:uFillTx/>
                <a:latin typeface="Archivo"/>
              </a:rPr>
              <a:t>2</a:t>
            </a:r>
            <a:endParaRPr b="0" lang="en-US" sz="3600" strike="noStrike" u="none">
              <a:solidFill>
                <a:srgbClr val="ffffff"/>
              </a:solidFill>
              <a:effectLst/>
              <a:uFillTx/>
              <a:latin typeface="OpenSymbol"/>
            </a:endParaRPr>
          </a:p>
        </p:txBody>
      </p:sp>
      <p:sp>
        <p:nvSpPr>
          <p:cNvPr id="84" name=""/>
          <p:cNvSpPr/>
          <p:nvPr/>
        </p:nvSpPr>
        <p:spPr>
          <a:xfrm>
            <a:off x="3809880" y="4019400"/>
            <a:ext cx="485748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Reminders: daily/weekly options allowed</a:t>
            </a:r>
            <a:endParaRPr b="0" lang="en-US" sz="14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p:nvPr/>
        </p:nvSpPr>
        <p:spPr>
          <a:xfrm>
            <a:off x="609480" y="1181160"/>
            <a:ext cx="2590560" cy="18720"/>
          </a:xfrm>
          <a:prstGeom prst="rect">
            <a:avLst/>
          </a:prstGeom>
          <a:solidFill>
            <a:srgbClr val="ffffff"/>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86" name=""/>
          <p:cNvSpPr/>
          <p:nvPr/>
        </p:nvSpPr>
        <p:spPr>
          <a:xfrm>
            <a:off x="3333600" y="1181160"/>
            <a:ext cx="2590560" cy="18720"/>
          </a:xfrm>
          <a:prstGeom prst="rect">
            <a:avLst/>
          </a:prstGeom>
          <a:solidFill>
            <a:srgbClr val="ffffff"/>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87" name=""/>
          <p:cNvSpPr/>
          <p:nvPr/>
        </p:nvSpPr>
        <p:spPr>
          <a:xfrm>
            <a:off x="6058080" y="1181160"/>
            <a:ext cx="3085920" cy="18720"/>
          </a:xfrm>
          <a:prstGeom prst="rect">
            <a:avLst/>
          </a:prstGeom>
          <a:solidFill>
            <a:srgbClr val="ffffff"/>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88" name=""/>
          <p:cNvSpPr/>
          <p:nvPr/>
        </p:nvSpPr>
        <p:spPr>
          <a:xfrm>
            <a:off x="476280" y="1114560"/>
            <a:ext cx="132840" cy="132840"/>
          </a:xfrm>
          <a:prstGeom prst="ellipse">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89" name=""/>
          <p:cNvSpPr/>
          <p:nvPr/>
        </p:nvSpPr>
        <p:spPr>
          <a:xfrm>
            <a:off x="3200400" y="1114560"/>
            <a:ext cx="132840" cy="132840"/>
          </a:xfrm>
          <a:prstGeom prst="ellipse">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0" name=""/>
          <p:cNvSpPr/>
          <p:nvPr/>
        </p:nvSpPr>
        <p:spPr>
          <a:xfrm>
            <a:off x="5924520" y="1114560"/>
            <a:ext cx="132840" cy="132840"/>
          </a:xfrm>
          <a:prstGeom prst="ellipse">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1" name=""/>
          <p:cNvSpPr/>
          <p:nvPr/>
        </p:nvSpPr>
        <p:spPr>
          <a:xfrm>
            <a:off x="0" y="3181320"/>
            <a:ext cx="475920" cy="18720"/>
          </a:xfrm>
          <a:prstGeom prst="rect">
            <a:avLst/>
          </a:prstGeom>
          <a:solidFill>
            <a:srgbClr val="ffffff"/>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2" name=""/>
          <p:cNvSpPr/>
          <p:nvPr/>
        </p:nvSpPr>
        <p:spPr>
          <a:xfrm>
            <a:off x="609480" y="3181320"/>
            <a:ext cx="2590560" cy="18720"/>
          </a:xfrm>
          <a:prstGeom prst="rect">
            <a:avLst/>
          </a:prstGeom>
          <a:solidFill>
            <a:srgbClr val="ffffff"/>
          </a:solidFill>
          <a:ln w="0">
            <a:noFill/>
          </a:ln>
        </p:spPr>
        <p:style>
          <a:lnRef idx="0"/>
          <a:fillRef idx="0"/>
          <a:effectRef idx="0"/>
          <a:fontRef idx="minor"/>
        </p:style>
        <p:txBody>
          <a:bodyPr vertOverflow="clip" lIns="90000" rIns="90000" tIns="-25920" bIns="-2592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3" name=""/>
          <p:cNvSpPr/>
          <p:nvPr/>
        </p:nvSpPr>
        <p:spPr>
          <a:xfrm>
            <a:off x="476280" y="3114720"/>
            <a:ext cx="132840" cy="132840"/>
          </a:xfrm>
          <a:prstGeom prst="ellipse">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4" name=""/>
          <p:cNvSpPr/>
          <p:nvPr/>
        </p:nvSpPr>
        <p:spPr>
          <a:xfrm>
            <a:off x="3200400" y="3114720"/>
            <a:ext cx="132840" cy="132840"/>
          </a:xfrm>
          <a:prstGeom prst="ellipse">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95"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ffffff"/>
                </a:solidFill>
                <a:effectLst/>
                <a:uFillTx/>
                <a:latin typeface="Archivo"/>
              </a:rPr>
              <a:t>AI Workflow</a:t>
            </a:r>
            <a:endParaRPr b="0" lang="en-US" sz="2600" strike="noStrike" u="none">
              <a:solidFill>
                <a:srgbClr val="ffffff"/>
              </a:solidFill>
              <a:effectLst/>
              <a:uFillTx/>
              <a:latin typeface="OpenSymbol"/>
            </a:endParaRPr>
          </a:p>
        </p:txBody>
      </p:sp>
      <p:sp>
        <p:nvSpPr>
          <p:cNvPr id="96" name=""/>
          <p:cNvSpPr/>
          <p:nvPr/>
        </p:nvSpPr>
        <p:spPr>
          <a:xfrm>
            <a:off x="47628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ffffff"/>
                </a:solidFill>
                <a:effectLst/>
                <a:uFillTx/>
                <a:latin typeface="Archivo"/>
              </a:rPr>
              <a:t>Student Input</a:t>
            </a:r>
            <a:endParaRPr b="0" lang="en-US" sz="1400" strike="noStrike" u="none">
              <a:solidFill>
                <a:srgbClr val="ffffff"/>
              </a:solidFill>
              <a:effectLst/>
              <a:uFillTx/>
              <a:latin typeface="OpenSymbol"/>
            </a:endParaRPr>
          </a:p>
        </p:txBody>
      </p:sp>
      <p:sp>
        <p:nvSpPr>
          <p:cNvPr id="97" name=""/>
          <p:cNvSpPr/>
          <p:nvPr/>
        </p:nvSpPr>
        <p:spPr>
          <a:xfrm>
            <a:off x="476280" y="1962000"/>
            <a:ext cx="257148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Student selects a question or topic to begin the cycle.</a:t>
            </a:r>
            <a:endParaRPr b="0" lang="en-US" sz="1200" strike="noStrike" u="none">
              <a:solidFill>
                <a:srgbClr val="ffffff"/>
              </a:solidFill>
              <a:effectLst/>
              <a:uFillTx/>
              <a:latin typeface="OpenSymbol"/>
            </a:endParaRPr>
          </a:p>
        </p:txBody>
      </p:sp>
      <p:sp>
        <p:nvSpPr>
          <p:cNvPr id="98" name=""/>
          <p:cNvSpPr/>
          <p:nvPr/>
        </p:nvSpPr>
        <p:spPr>
          <a:xfrm>
            <a:off x="320040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ffffff"/>
                </a:solidFill>
                <a:effectLst/>
                <a:uFillTx/>
                <a:latin typeface="Archivo"/>
              </a:rPr>
              <a:t>Context Assembly</a:t>
            </a:r>
            <a:endParaRPr b="0" lang="en-US" sz="1400" strike="noStrike" u="none">
              <a:solidFill>
                <a:srgbClr val="ffffff"/>
              </a:solidFill>
              <a:effectLst/>
              <a:uFillTx/>
              <a:latin typeface="OpenSymbol"/>
            </a:endParaRPr>
          </a:p>
        </p:txBody>
      </p:sp>
      <p:sp>
        <p:nvSpPr>
          <p:cNvPr id="99" name=""/>
          <p:cNvSpPr/>
          <p:nvPr/>
        </p:nvSpPr>
        <p:spPr>
          <a:xfrm>
            <a:off x="3200400" y="1962000"/>
            <a:ext cx="257148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System pulls course., lesson, and prior performance to tailor context.</a:t>
            </a:r>
            <a:endParaRPr b="0" lang="en-US" sz="1200" strike="noStrike" u="none">
              <a:solidFill>
                <a:srgbClr val="ffffff"/>
              </a:solidFill>
              <a:effectLst/>
              <a:uFillTx/>
              <a:latin typeface="OpenSymbol"/>
            </a:endParaRPr>
          </a:p>
        </p:txBody>
      </p:sp>
      <p:sp>
        <p:nvSpPr>
          <p:cNvPr id="100" name=""/>
          <p:cNvSpPr/>
          <p:nvPr/>
        </p:nvSpPr>
        <p:spPr>
          <a:xfrm>
            <a:off x="5924520" y="129528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ffffff"/>
                </a:solidFill>
                <a:effectLst/>
                <a:uFillTx/>
                <a:latin typeface="Archivo"/>
              </a:rPr>
              <a:t>AI Processing</a:t>
            </a:r>
            <a:endParaRPr b="0" lang="en-US" sz="1400" strike="noStrike" u="none">
              <a:solidFill>
                <a:srgbClr val="ffffff"/>
              </a:solidFill>
              <a:effectLst/>
              <a:uFillTx/>
              <a:latin typeface="OpenSymbol"/>
            </a:endParaRPr>
          </a:p>
        </p:txBody>
      </p:sp>
      <p:sp>
        <p:nvSpPr>
          <p:cNvPr id="101" name=""/>
          <p:cNvSpPr/>
          <p:nvPr/>
        </p:nvSpPr>
        <p:spPr>
          <a:xfrm>
            <a:off x="5924520" y="1962000"/>
            <a:ext cx="25714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Local model with scripted prompts (MVP); deterministic behavior, no production LLM integration.</a:t>
            </a:r>
            <a:endParaRPr b="0" lang="en-US" sz="1200" strike="noStrike" u="none">
              <a:solidFill>
                <a:srgbClr val="ffffff"/>
              </a:solidFill>
              <a:effectLst/>
              <a:uFillTx/>
              <a:latin typeface="OpenSymbol"/>
            </a:endParaRPr>
          </a:p>
        </p:txBody>
      </p:sp>
      <p:sp>
        <p:nvSpPr>
          <p:cNvPr id="102" name=""/>
          <p:cNvSpPr/>
          <p:nvPr/>
        </p:nvSpPr>
        <p:spPr>
          <a:xfrm>
            <a:off x="476280" y="329580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ffffff"/>
                </a:solidFill>
                <a:effectLst/>
                <a:uFillTx/>
                <a:latin typeface="Archivo"/>
              </a:rPr>
              <a:t>Personalized Response</a:t>
            </a:r>
            <a:endParaRPr b="0" lang="en-US" sz="1400" strike="noStrike" u="none">
              <a:solidFill>
                <a:srgbClr val="ffffff"/>
              </a:solidFill>
              <a:effectLst/>
              <a:uFillTx/>
              <a:latin typeface="OpenSymbol"/>
            </a:endParaRPr>
          </a:p>
        </p:txBody>
      </p:sp>
      <p:sp>
        <p:nvSpPr>
          <p:cNvPr id="103" name=""/>
          <p:cNvSpPr/>
          <p:nvPr/>
        </p:nvSpPr>
        <p:spPr>
          <a:xfrm>
            <a:off x="476280" y="3962520"/>
            <a:ext cx="25714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Clear explanation, relatable analogy, and a concise summary tailored to the learner.</a:t>
            </a:r>
            <a:endParaRPr b="0" lang="en-US" sz="1200" strike="noStrike" u="none">
              <a:solidFill>
                <a:srgbClr val="ffffff"/>
              </a:solidFill>
              <a:effectLst/>
              <a:uFillTx/>
              <a:latin typeface="OpenSymbol"/>
            </a:endParaRPr>
          </a:p>
        </p:txBody>
      </p:sp>
      <p:sp>
        <p:nvSpPr>
          <p:cNvPr id="104" name=""/>
          <p:cNvSpPr/>
          <p:nvPr/>
        </p:nvSpPr>
        <p:spPr>
          <a:xfrm>
            <a:off x="3200400" y="3295800"/>
            <a:ext cx="25714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ffffff"/>
                </a:solidFill>
                <a:effectLst/>
                <a:uFillTx/>
                <a:latin typeface="Archivo"/>
              </a:rPr>
              <a:t>Artifact Generation</a:t>
            </a:r>
            <a:endParaRPr b="0" lang="en-US" sz="1400" strike="noStrike" u="none">
              <a:solidFill>
                <a:srgbClr val="ffffff"/>
              </a:solidFill>
              <a:effectLst/>
              <a:uFillTx/>
              <a:latin typeface="OpenSymbol"/>
            </a:endParaRPr>
          </a:p>
        </p:txBody>
      </p:sp>
      <p:sp>
        <p:nvSpPr>
          <p:cNvPr id="105" name=""/>
          <p:cNvSpPr/>
          <p:nvPr/>
        </p:nvSpPr>
        <p:spPr>
          <a:xfrm>
            <a:off x="3200400" y="3962520"/>
            <a:ext cx="25714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Quiz, flashcards, and feedback artifacts produced for practice and reflection.</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MVP: Safe &amp; Ready</a:t>
            </a:r>
            <a:endParaRPr b="0" lang="en-US" sz="2400" strike="noStrike" u="none">
              <a:solidFill>
                <a:srgbClr val="ffffff"/>
              </a:solidFill>
              <a:effectLst/>
              <a:uFillTx/>
              <a:latin typeface="OpenSymbol"/>
            </a:endParaRPr>
          </a:p>
        </p:txBody>
      </p:sp>
      <p:sp>
        <p:nvSpPr>
          <p:cNvPr id="107" name=""/>
          <p:cNvSpPr/>
          <p:nvPr/>
        </p:nvSpPr>
        <p:spPr>
          <a:xfrm>
            <a:off x="476280" y="1238400"/>
            <a:ext cx="8191080" cy="1523520"/>
          </a:xfrm>
          <a:prstGeom prst="rect">
            <a:avLst/>
          </a:prstGeom>
          <a:noFill/>
          <a:ln w="0">
            <a:noFill/>
          </a:ln>
        </p:spPr>
        <p:style>
          <a:lnRef idx="0"/>
          <a:fillRef idx="0"/>
          <a:effectRef idx="0"/>
          <a:fontRef idx="minor"/>
        </p:style>
        <p:txBody>
          <a:bodyPr anchor="t">
            <a:normAutofit lnSpcReduction="9999"/>
          </a:bodyPr>
          <a:p>
            <a:pPr defTabSz="914400">
              <a:lnSpc>
                <a:spcPct val="150000"/>
              </a:lnSpc>
              <a:tabLst>
                <a:tab algn="l" pos="0"/>
              </a:tabLst>
            </a:pPr>
            <a:r>
              <a:rPr b="0" lang="en-US" sz="1600" strike="noStrike" u="none">
                <a:solidFill>
                  <a:srgbClr val="ffffff"/>
                </a:solidFill>
                <a:effectLst/>
                <a:uFillTx/>
                <a:latin typeface="DM Sans"/>
              </a:rPr>
              <a:t>EduTrackAI is a working MVP designed for campus pilots, with deterministic quiz generation and locally executed AI modules to ensure predictable behavior. All outputs are clearly labeled and exportable analytics are available for monitoring progress. Privacy and explainability are prioritized: high-stakes results require teacher review, and students’ data stays on campus. This setup is functional,</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algn="ctr" defTabSz="914400">
              <a:lnSpc>
                <a:spcPct val="100000"/>
              </a:lnSpc>
              <a:tabLst>
                <a:tab algn="l" pos="0"/>
              </a:tabLst>
            </a:pPr>
            <a:r>
              <a:rPr b="1" lang="en-US" sz="2400" strike="noStrike" u="none">
                <a:solidFill>
                  <a:srgbClr val="ffffff"/>
                </a:solidFill>
                <a:effectLst/>
                <a:uFillTx/>
                <a:latin typeface="Archivo"/>
              </a:rPr>
              <a:t>Assessment Drives Readiness</a:t>
            </a:r>
            <a:endParaRPr b="0" lang="en-US" sz="2400" strike="noStrike" u="none">
              <a:solidFill>
                <a:srgbClr val="ffffff"/>
              </a:solidFill>
              <a:effectLst/>
              <a:uFillTx/>
              <a:latin typeface="OpenSymbol"/>
            </a:endParaRPr>
          </a:p>
        </p:txBody>
      </p:sp>
      <p:sp>
        <p:nvSpPr>
          <p:cNvPr id="109" name=""/>
          <p:cNvSpPr/>
          <p:nvPr/>
        </p:nvSpPr>
        <p:spPr>
          <a:xfrm>
            <a:off x="47628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ffffff"/>
                </a:solidFill>
                <a:effectLst/>
                <a:uFillTx/>
                <a:latin typeface="DM Sans"/>
              </a:rPr>
              <a:t>Assessment Engine</a:t>
            </a:r>
            <a:endParaRPr b="0" lang="en-US" sz="1400" strike="noStrike" u="none">
              <a:solidFill>
                <a:srgbClr val="ffffff"/>
              </a:solidFill>
              <a:effectLst/>
              <a:uFillTx/>
              <a:latin typeface="OpenSymbol"/>
            </a:endParaRPr>
          </a:p>
        </p:txBody>
      </p:sp>
      <p:sp>
        <p:nvSpPr>
          <p:cNvPr id="110" name=""/>
          <p:cNvSpPr/>
          <p:nvPr/>
        </p:nvSpPr>
        <p:spPr>
          <a:xfrm>
            <a:off x="476280" y="1695600"/>
            <a:ext cx="3904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Topic quizzes with selectable difficulty, retry workflows, and flashcards create focused practice. Real-time performance feedback converts daily study into measurable mastery.</a:t>
            </a:r>
            <a:endParaRPr b="0" lang="en-US" sz="1200" strike="noStrike" u="none">
              <a:solidFill>
                <a:srgbClr val="ffffff"/>
              </a:solidFill>
              <a:effectLst/>
              <a:uFillTx/>
              <a:latin typeface="OpenSymbol"/>
            </a:endParaRPr>
          </a:p>
        </p:txBody>
      </p:sp>
      <p:sp>
        <p:nvSpPr>
          <p:cNvPr id="111" name=""/>
          <p:cNvSpPr/>
          <p:nvPr/>
        </p:nvSpPr>
        <p:spPr>
          <a:xfrm>
            <a:off x="4762440" y="1238400"/>
            <a:ext cx="390492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1" lang="en-US" sz="1400" strike="noStrike" u="none">
                <a:solidFill>
                  <a:srgbClr val="ffffff"/>
                </a:solidFill>
                <a:effectLst/>
                <a:uFillTx/>
                <a:latin typeface="DM Sans"/>
              </a:rPr>
              <a:t>Placement Engine</a:t>
            </a:r>
            <a:endParaRPr b="0" lang="en-US" sz="1400" strike="noStrike" u="none">
              <a:solidFill>
                <a:srgbClr val="ffffff"/>
              </a:solidFill>
              <a:effectLst/>
              <a:uFillTx/>
              <a:latin typeface="OpenSymbol"/>
            </a:endParaRPr>
          </a:p>
        </p:txBody>
      </p:sp>
      <p:sp>
        <p:nvSpPr>
          <p:cNvPr id="112" name=""/>
          <p:cNvSpPr/>
          <p:nvPr/>
        </p:nvSpPr>
        <p:spPr>
          <a:xfrm>
            <a:off x="4762440" y="1695600"/>
            <a:ext cx="390492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Targeted practice across quantitative, logical, verbal, coding, and communication builds placement readiness. Mock interviews and a placement-readiness score bridge coursework to hiring benchmarks.</a:t>
            </a:r>
            <a:endParaRPr b="0" lang="en-US" sz="1200" strike="noStrike" u="none">
              <a:solidFill>
                <a:srgbClr val="ffffff"/>
              </a:solidFill>
              <a:effectLst/>
              <a:uFillTx/>
              <a:latin typeface="OpenSymbol"/>
            </a:endParaRPr>
          </a:p>
        </p:txBody>
      </p:sp>
      <p:sp>
        <p:nvSpPr>
          <p:cNvPr id="113" name=""/>
          <p:cNvSpPr/>
          <p:nvPr/>
        </p:nvSpPr>
        <p:spPr>
          <a:xfrm>
            <a:off x="476280" y="422928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ffffff"/>
                </a:solidFill>
                <a:effectLst/>
                <a:uFillTx/>
                <a:latin typeface="DM Sans"/>
              </a:rPr>
              <a:t>Integrated assessments turn daily learning into job-ready skills.</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Teacher Analytics</a:t>
            </a:r>
            <a:endParaRPr b="0" lang="en-US" sz="2400" strike="noStrike" u="none">
              <a:solidFill>
                <a:srgbClr val="ffffff"/>
              </a:solidFill>
              <a:effectLst/>
              <a:uFillTx/>
              <a:latin typeface="OpenSymbol"/>
            </a:endParaRPr>
          </a:p>
        </p:txBody>
      </p:sp>
      <p:sp>
        <p:nvSpPr>
          <p:cNvPr id="115" name=""/>
          <p:cNvSpPr/>
          <p:nvPr/>
        </p:nvSpPr>
        <p:spPr>
          <a:xfrm>
            <a:off x="476280" y="142884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Weekly active sessions</a:t>
            </a:r>
            <a:endParaRPr b="0" lang="en-US" sz="1400" strike="noStrike" u="none">
              <a:solidFill>
                <a:srgbClr val="ffffff"/>
              </a:solidFill>
              <a:effectLst/>
              <a:uFillTx/>
              <a:latin typeface="OpenSymbol"/>
            </a:endParaRPr>
          </a:p>
        </p:txBody>
      </p:sp>
      <p:sp>
        <p:nvSpPr>
          <p:cNvPr id="116" name=""/>
          <p:cNvSpPr/>
          <p:nvPr/>
        </p:nvSpPr>
        <p:spPr>
          <a:xfrm>
            <a:off x="3048120" y="1428840"/>
            <a:ext cx="25714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Projected increase per student with conservative pacing.</a:t>
            </a:r>
            <a:endParaRPr b="0" lang="en-US" sz="1200" strike="noStrike" u="none">
              <a:solidFill>
                <a:srgbClr val="ffffff"/>
              </a:solidFill>
              <a:effectLst/>
              <a:uFillTx/>
              <a:latin typeface="OpenSymbol"/>
            </a:endParaRPr>
          </a:p>
        </p:txBody>
      </p:sp>
      <p:sp>
        <p:nvSpPr>
          <p:cNvPr id="117" name=""/>
          <p:cNvSpPr/>
          <p:nvPr/>
        </p:nvSpPr>
        <p:spPr>
          <a:xfrm>
            <a:off x="5810400" y="1428840"/>
            <a:ext cx="2857320" cy="7045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1" lang="en-US" sz="3600" strike="noStrike" u="none">
                <a:solidFill>
                  <a:srgbClr val="ffffff"/>
                </a:solidFill>
                <a:effectLst/>
                <a:uFillTx/>
                <a:latin typeface="Archivo"/>
              </a:rPr>
              <a:t>+35%</a:t>
            </a:r>
            <a:endParaRPr b="0" lang="en-US" sz="3600" strike="noStrike" u="none">
              <a:solidFill>
                <a:srgbClr val="ffffff"/>
              </a:solidFill>
              <a:effectLst/>
              <a:uFillTx/>
              <a:latin typeface="OpenSymbol"/>
            </a:endParaRPr>
          </a:p>
        </p:txBody>
      </p:sp>
      <p:sp>
        <p:nvSpPr>
          <p:cNvPr id="118" name=""/>
          <p:cNvSpPr/>
          <p:nvPr/>
        </p:nvSpPr>
        <p:spPr>
          <a:xfrm>
            <a:off x="476280" y="223848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At-risk detection precision</a:t>
            </a:r>
            <a:endParaRPr b="0" lang="en-US" sz="1400" strike="noStrike" u="none">
              <a:solidFill>
                <a:srgbClr val="ffffff"/>
              </a:solidFill>
              <a:effectLst/>
              <a:uFillTx/>
              <a:latin typeface="OpenSymbol"/>
            </a:endParaRPr>
          </a:p>
        </p:txBody>
      </p:sp>
      <p:sp>
        <p:nvSpPr>
          <p:cNvPr id="119" name=""/>
          <p:cNvSpPr/>
          <p:nvPr/>
        </p:nvSpPr>
        <p:spPr>
          <a:xfrm>
            <a:off x="3048120" y="2238480"/>
            <a:ext cx="25714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Week 3 identification using a rule-based model.</a:t>
            </a:r>
            <a:endParaRPr b="0" lang="en-US" sz="1200" strike="noStrike" u="none">
              <a:solidFill>
                <a:srgbClr val="ffffff"/>
              </a:solidFill>
              <a:effectLst/>
              <a:uFillTx/>
              <a:latin typeface="OpenSymbol"/>
            </a:endParaRPr>
          </a:p>
        </p:txBody>
      </p:sp>
      <p:sp>
        <p:nvSpPr>
          <p:cNvPr id="120" name=""/>
          <p:cNvSpPr/>
          <p:nvPr/>
        </p:nvSpPr>
        <p:spPr>
          <a:xfrm>
            <a:off x="5810400" y="2238480"/>
            <a:ext cx="2857320" cy="7045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1" lang="en-US" sz="3600" strike="noStrike" u="none">
                <a:solidFill>
                  <a:srgbClr val="ffffff"/>
                </a:solidFill>
                <a:effectLst/>
                <a:uFillTx/>
                <a:latin typeface="Archivo"/>
              </a:rPr>
              <a:t>80%</a:t>
            </a:r>
            <a:endParaRPr b="0" lang="en-US" sz="3600" strike="noStrike" u="none">
              <a:solidFill>
                <a:srgbClr val="ffffff"/>
              </a:solidFill>
              <a:effectLst/>
              <a:uFillTx/>
              <a:latin typeface="OpenSymbol"/>
            </a:endParaRPr>
          </a:p>
        </p:txBody>
      </p:sp>
      <p:sp>
        <p:nvSpPr>
          <p:cNvPr id="121" name=""/>
          <p:cNvSpPr/>
          <p:nvPr/>
        </p:nvSpPr>
        <p:spPr>
          <a:xfrm>
            <a:off x="476280" y="304812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Quiz score improvement</a:t>
            </a:r>
            <a:endParaRPr b="0" lang="en-US" sz="1400" strike="noStrike" u="none">
              <a:solidFill>
                <a:srgbClr val="ffffff"/>
              </a:solidFill>
              <a:effectLst/>
              <a:uFillTx/>
              <a:latin typeface="OpenSymbol"/>
            </a:endParaRPr>
          </a:p>
        </p:txBody>
      </p:sp>
      <p:sp>
        <p:nvSpPr>
          <p:cNvPr id="122" name=""/>
          <p:cNvSpPr/>
          <p:nvPr/>
        </p:nvSpPr>
        <p:spPr>
          <a:xfrm>
            <a:off x="3048120" y="3048120"/>
            <a:ext cx="2571480" cy="33300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After two targeted review cycles.</a:t>
            </a:r>
            <a:endParaRPr b="0" lang="en-US" sz="1200" strike="noStrike" u="none">
              <a:solidFill>
                <a:srgbClr val="ffffff"/>
              </a:solidFill>
              <a:effectLst/>
              <a:uFillTx/>
              <a:latin typeface="OpenSymbol"/>
            </a:endParaRPr>
          </a:p>
        </p:txBody>
      </p:sp>
      <p:sp>
        <p:nvSpPr>
          <p:cNvPr id="123" name=""/>
          <p:cNvSpPr/>
          <p:nvPr/>
        </p:nvSpPr>
        <p:spPr>
          <a:xfrm>
            <a:off x="5810400" y="3048120"/>
            <a:ext cx="2857320" cy="7045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1" lang="en-US" sz="3600" strike="noStrike" u="none">
                <a:solidFill>
                  <a:srgbClr val="ffffff"/>
                </a:solidFill>
                <a:effectLst/>
                <a:uFillTx/>
                <a:latin typeface="Archivo"/>
              </a:rPr>
              <a:t>+18%</a:t>
            </a:r>
            <a:endParaRPr b="0" lang="en-US" sz="3600" strike="noStrike" u="none">
              <a:solidFill>
                <a:srgbClr val="ffffff"/>
              </a:solidFill>
              <a:effectLst/>
              <a:uFillTx/>
              <a:latin typeface="OpenSymbol"/>
            </a:endParaRPr>
          </a:p>
        </p:txBody>
      </p:sp>
      <p:sp>
        <p:nvSpPr>
          <p:cNvPr id="124" name=""/>
          <p:cNvSpPr/>
          <p:nvPr/>
        </p:nvSpPr>
        <p:spPr>
          <a:xfrm>
            <a:off x="476280" y="385776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DM Sans"/>
              </a:rPr>
              <a:t>Placement readiness score</a:t>
            </a:r>
            <a:endParaRPr b="0" lang="en-US" sz="1400" strike="noStrike" u="none">
              <a:solidFill>
                <a:srgbClr val="ffffff"/>
              </a:solidFill>
              <a:effectLst/>
              <a:uFillTx/>
              <a:latin typeface="OpenSymbol"/>
            </a:endParaRPr>
          </a:p>
        </p:txBody>
      </p:sp>
      <p:sp>
        <p:nvSpPr>
          <p:cNvPr id="125" name=""/>
          <p:cNvSpPr/>
          <p:nvPr/>
        </p:nvSpPr>
        <p:spPr>
          <a:xfrm>
            <a:off x="3048120" y="3857760"/>
            <a:ext cx="25714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Per-student score with cohort averages displayed.</a:t>
            </a:r>
            <a:endParaRPr b="0" lang="en-US" sz="1200" strike="noStrike" u="none">
              <a:solidFill>
                <a:srgbClr val="ffffff"/>
              </a:solidFill>
              <a:effectLst/>
              <a:uFillTx/>
              <a:latin typeface="OpenSymbol"/>
            </a:endParaRPr>
          </a:p>
        </p:txBody>
      </p:sp>
      <p:sp>
        <p:nvSpPr>
          <p:cNvPr id="126" name=""/>
          <p:cNvSpPr/>
          <p:nvPr/>
        </p:nvSpPr>
        <p:spPr>
          <a:xfrm>
            <a:off x="5810400" y="3857760"/>
            <a:ext cx="2857320" cy="7045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1" lang="en-US" sz="3600" strike="noStrike" u="none">
                <a:solidFill>
                  <a:srgbClr val="ffffff"/>
                </a:solidFill>
                <a:effectLst/>
                <a:uFillTx/>
                <a:latin typeface="Archivo"/>
              </a:rPr>
              <a:t>0–100</a:t>
            </a:r>
            <a:endParaRPr b="0" lang="en-US" sz="3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p:nvPr/>
        </p:nvSpPr>
        <p:spPr>
          <a:xfrm>
            <a:off x="3610080" y="628560"/>
            <a:ext cx="9000" cy="388584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28" name=""/>
          <p:cNvSpPr/>
          <p:nvPr/>
        </p:nvSpPr>
        <p:spPr>
          <a:xfrm>
            <a:off x="3143160" y="324000"/>
            <a:ext cx="952200" cy="3045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29" name=""/>
          <p:cNvSpPr/>
          <p:nvPr/>
        </p:nvSpPr>
        <p:spPr>
          <a:xfrm>
            <a:off x="3143160" y="4514760"/>
            <a:ext cx="952200" cy="304560"/>
          </a:xfrm>
          <a:prstGeom prst="roundRect">
            <a:avLst>
              <a:gd name="adj" fmla="val 16667"/>
            </a:avLst>
          </a:prstGeom>
          <a:solidFill>
            <a:srgbClr val="ffffff"/>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0" name=""/>
          <p:cNvSpPr/>
          <p:nvPr/>
        </p:nvSpPr>
        <p:spPr>
          <a:xfrm>
            <a:off x="3610080" y="1000080"/>
            <a:ext cx="561600" cy="9000"/>
          </a:xfrm>
          <a:prstGeom prst="rect">
            <a:avLst/>
          </a:prstGeom>
          <a:solidFill>
            <a:srgbClr val="ffffff"/>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1" name=""/>
          <p:cNvSpPr/>
          <p:nvPr/>
        </p:nvSpPr>
        <p:spPr>
          <a:xfrm rot="5400000">
            <a:off x="4172040" y="961920"/>
            <a:ext cx="75960" cy="75960"/>
          </a:xfrm>
          <a:prstGeom prst="triangle">
            <a:avLst>
              <a:gd name="adj" fmla="val 50000"/>
            </a:avLst>
          </a:prstGeom>
          <a:solidFill>
            <a:srgbClr val="ffffff"/>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2" name=""/>
          <p:cNvSpPr/>
          <p:nvPr/>
        </p:nvSpPr>
        <p:spPr>
          <a:xfrm>
            <a:off x="3610080" y="2048040"/>
            <a:ext cx="561600" cy="9000"/>
          </a:xfrm>
          <a:prstGeom prst="rect">
            <a:avLst/>
          </a:prstGeom>
          <a:solidFill>
            <a:srgbClr val="ffffff"/>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3" name=""/>
          <p:cNvSpPr/>
          <p:nvPr/>
        </p:nvSpPr>
        <p:spPr>
          <a:xfrm rot="5400000">
            <a:off x="4172040" y="2009880"/>
            <a:ext cx="75960" cy="75960"/>
          </a:xfrm>
          <a:prstGeom prst="triangle">
            <a:avLst>
              <a:gd name="adj" fmla="val 50000"/>
            </a:avLst>
          </a:prstGeom>
          <a:solidFill>
            <a:srgbClr val="ffffff"/>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4" name=""/>
          <p:cNvSpPr/>
          <p:nvPr/>
        </p:nvSpPr>
        <p:spPr>
          <a:xfrm>
            <a:off x="3610080" y="3095640"/>
            <a:ext cx="561600" cy="9000"/>
          </a:xfrm>
          <a:prstGeom prst="rect">
            <a:avLst/>
          </a:prstGeom>
          <a:solidFill>
            <a:srgbClr val="ffffff"/>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5" name=""/>
          <p:cNvSpPr/>
          <p:nvPr/>
        </p:nvSpPr>
        <p:spPr>
          <a:xfrm rot="5400000">
            <a:off x="4172040" y="3057480"/>
            <a:ext cx="75960" cy="75960"/>
          </a:xfrm>
          <a:prstGeom prst="triangle">
            <a:avLst>
              <a:gd name="adj" fmla="val 50000"/>
            </a:avLst>
          </a:prstGeom>
          <a:solidFill>
            <a:srgbClr val="ffffff"/>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6" name=""/>
          <p:cNvSpPr/>
          <p:nvPr/>
        </p:nvSpPr>
        <p:spPr>
          <a:xfrm>
            <a:off x="3610080" y="4143240"/>
            <a:ext cx="561600" cy="9000"/>
          </a:xfrm>
          <a:prstGeom prst="rect">
            <a:avLst/>
          </a:prstGeom>
          <a:solidFill>
            <a:srgbClr val="ffffff"/>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7" name=""/>
          <p:cNvSpPr/>
          <p:nvPr/>
        </p:nvSpPr>
        <p:spPr>
          <a:xfrm rot="5400000">
            <a:off x="4172040" y="4105440"/>
            <a:ext cx="75960" cy="75960"/>
          </a:xfrm>
          <a:prstGeom prst="triangle">
            <a:avLst>
              <a:gd name="adj" fmla="val 50000"/>
            </a:avLst>
          </a:prstGeom>
          <a:solidFill>
            <a:srgbClr val="ffffff"/>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138" name=""/>
          <p:cNvSpPr/>
          <p:nvPr/>
        </p:nvSpPr>
        <p:spPr>
          <a:xfrm>
            <a:off x="476280" y="324000"/>
            <a:ext cx="228564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ffffff"/>
                </a:solidFill>
                <a:effectLst/>
                <a:uFillTx/>
                <a:latin typeface="Archivo"/>
              </a:rPr>
              <a:t>Pilot Timeline</a:t>
            </a:r>
            <a:endParaRPr b="0" lang="en-US" sz="2600" strike="noStrike" u="none">
              <a:solidFill>
                <a:srgbClr val="ffffff"/>
              </a:solidFill>
              <a:effectLst/>
              <a:uFillTx/>
              <a:latin typeface="OpenSymbol"/>
            </a:endParaRPr>
          </a:p>
        </p:txBody>
      </p:sp>
      <p:sp>
        <p:nvSpPr>
          <p:cNvPr id="139" name=""/>
          <p:cNvSpPr/>
          <p:nvPr/>
        </p:nvSpPr>
        <p:spPr>
          <a:xfrm>
            <a:off x="4476600" y="71424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Archivo"/>
              </a:rPr>
              <a:t>Week 0 Setup</a:t>
            </a:r>
            <a:endParaRPr b="0" lang="en-US" sz="1400" strike="noStrike" u="none">
              <a:solidFill>
                <a:srgbClr val="ffffff"/>
              </a:solidFill>
              <a:effectLst/>
              <a:uFillTx/>
              <a:latin typeface="OpenSymbol"/>
            </a:endParaRPr>
          </a:p>
        </p:txBody>
      </p:sp>
      <p:sp>
        <p:nvSpPr>
          <p:cNvPr id="140" name=""/>
          <p:cNvSpPr/>
          <p:nvPr/>
        </p:nvSpPr>
        <p:spPr>
          <a:xfrm>
            <a:off x="6191280" y="542880"/>
            <a:ext cx="24760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Integrate with one course; onboard 150 students and 5 instructors.</a:t>
            </a:r>
            <a:endParaRPr b="0" lang="en-US" sz="1200" strike="noStrike" u="none">
              <a:solidFill>
                <a:srgbClr val="ffffff"/>
              </a:solidFill>
              <a:effectLst/>
              <a:uFillTx/>
              <a:latin typeface="OpenSymbol"/>
            </a:endParaRPr>
          </a:p>
        </p:txBody>
      </p:sp>
      <p:sp>
        <p:nvSpPr>
          <p:cNvPr id="141" name=""/>
          <p:cNvSpPr/>
          <p:nvPr/>
        </p:nvSpPr>
        <p:spPr>
          <a:xfrm>
            <a:off x="4476600" y="176220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Archivo"/>
              </a:rPr>
              <a:t>Weeks 1–4 Run</a:t>
            </a:r>
            <a:endParaRPr b="0" lang="en-US" sz="1400" strike="noStrike" u="none">
              <a:solidFill>
                <a:srgbClr val="ffffff"/>
              </a:solidFill>
              <a:effectLst/>
              <a:uFillTx/>
              <a:latin typeface="OpenSymbol"/>
            </a:endParaRPr>
          </a:p>
        </p:txBody>
      </p:sp>
      <p:sp>
        <p:nvSpPr>
          <p:cNvPr id="142" name=""/>
          <p:cNvSpPr/>
          <p:nvPr/>
        </p:nvSpPr>
        <p:spPr>
          <a:xfrm>
            <a:off x="6191280" y="1590840"/>
            <a:ext cx="24760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Deliver core features: learning cycles, quizzes, and placement modules with ongoing support.</a:t>
            </a:r>
            <a:endParaRPr b="0" lang="en-US" sz="1200" strike="noStrike" u="none">
              <a:solidFill>
                <a:srgbClr val="ffffff"/>
              </a:solidFill>
              <a:effectLst/>
              <a:uFillTx/>
              <a:latin typeface="OpenSymbol"/>
            </a:endParaRPr>
          </a:p>
        </p:txBody>
      </p:sp>
      <p:sp>
        <p:nvSpPr>
          <p:cNvPr id="143" name=""/>
          <p:cNvSpPr/>
          <p:nvPr/>
        </p:nvSpPr>
        <p:spPr>
          <a:xfrm>
            <a:off x="4476600" y="280980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Archivo"/>
              </a:rPr>
              <a:t>Week 5 Analyze</a:t>
            </a:r>
            <a:endParaRPr b="0" lang="en-US" sz="1400" strike="noStrike" u="none">
              <a:solidFill>
                <a:srgbClr val="ffffff"/>
              </a:solidFill>
              <a:effectLst/>
              <a:uFillTx/>
              <a:latin typeface="OpenSymbol"/>
            </a:endParaRPr>
          </a:p>
        </p:txBody>
      </p:sp>
      <p:sp>
        <p:nvSpPr>
          <p:cNvPr id="144" name=""/>
          <p:cNvSpPr/>
          <p:nvPr/>
        </p:nvSpPr>
        <p:spPr>
          <a:xfrm>
            <a:off x="6191280" y="2638440"/>
            <a:ext cx="24760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Assess engagement, score improvements, and at-risk detection accuracy.</a:t>
            </a:r>
            <a:endParaRPr b="0" lang="en-US" sz="1200" strike="noStrike" u="none">
              <a:solidFill>
                <a:srgbClr val="ffffff"/>
              </a:solidFill>
              <a:effectLst/>
              <a:uFillTx/>
              <a:latin typeface="OpenSymbol"/>
            </a:endParaRPr>
          </a:p>
        </p:txBody>
      </p:sp>
      <p:sp>
        <p:nvSpPr>
          <p:cNvPr id="145" name=""/>
          <p:cNvSpPr/>
          <p:nvPr/>
        </p:nvSpPr>
        <p:spPr>
          <a:xfrm>
            <a:off x="4476600" y="385776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ffffff"/>
                </a:solidFill>
                <a:effectLst/>
                <a:uFillTx/>
                <a:latin typeface="Archivo"/>
              </a:rPr>
              <a:t>Week 6 Report</a:t>
            </a:r>
            <a:endParaRPr b="0" lang="en-US" sz="1400" strike="noStrike" u="none">
              <a:solidFill>
                <a:srgbClr val="ffffff"/>
              </a:solidFill>
              <a:effectLst/>
              <a:uFillTx/>
              <a:latin typeface="OpenSymbol"/>
            </a:endParaRPr>
          </a:p>
        </p:txBody>
      </p:sp>
      <p:sp>
        <p:nvSpPr>
          <p:cNvPr id="146" name=""/>
          <p:cNvSpPr/>
          <p:nvPr/>
        </p:nvSpPr>
        <p:spPr>
          <a:xfrm>
            <a:off x="6191280" y="3686040"/>
            <a:ext cx="2476080" cy="70452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ffffff"/>
                </a:solidFill>
                <a:effectLst/>
                <a:uFillTx/>
                <a:latin typeface="DM Sans"/>
              </a:rPr>
              <a:t>Present results and propose campus expansion or sponsor support.</a:t>
            </a:r>
            <a:endParaRPr b="0" lang="en-US" sz="12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ffffff"/>
                </a:solidFill>
                <a:effectLst/>
                <a:uFillTx/>
                <a:latin typeface="Archivo"/>
              </a:rPr>
              <a:t>6-Week Pilot</a:t>
            </a:r>
            <a:endParaRPr b="0" lang="en-US" sz="2400" strike="noStrike" u="none">
              <a:solidFill>
                <a:srgbClr val="ffffff"/>
              </a:solidFill>
              <a:effectLst/>
              <a:uFillTx/>
              <a:latin typeface="OpenSymbol"/>
            </a:endParaRPr>
          </a:p>
        </p:txBody>
      </p:sp>
      <p:sp>
        <p:nvSpPr>
          <p:cNvPr id="148" name=""/>
          <p:cNvSpPr/>
          <p:nvPr/>
        </p:nvSpPr>
        <p:spPr>
          <a:xfrm>
            <a:off x="476280" y="1238400"/>
            <a:ext cx="8191080" cy="1066320"/>
          </a:xfrm>
          <a:prstGeom prst="rect">
            <a:avLst/>
          </a:prstGeom>
          <a:noFill/>
          <a:ln w="0">
            <a:noFill/>
          </a:ln>
        </p:spPr>
        <p:style>
          <a:lnRef idx="0"/>
          <a:fillRef idx="0"/>
          <a:effectRef idx="0"/>
          <a:fontRef idx="minor"/>
        </p:style>
        <p:txBody>
          <a:bodyPr anchor="t">
            <a:normAutofit fontScale="92500" lnSpcReduction="9999"/>
          </a:bodyPr>
          <a:p>
            <a:pPr defTabSz="914400">
              <a:lnSpc>
                <a:spcPct val="150000"/>
              </a:lnSpc>
              <a:tabLst>
                <a:tab algn="l" pos="0"/>
              </a:tabLst>
            </a:pPr>
            <a:r>
              <a:rPr b="0" lang="en-US" sz="1600" strike="noStrike" u="none">
                <a:solidFill>
                  <a:srgbClr val="ffffff"/>
                </a:solidFill>
                <a:effectLst/>
                <a:uFillTx/>
                <a:latin typeface="DM Sans"/>
              </a:rPr>
              <a:t>- Deploy EduTrackAI with one department (~150 students).</a:t>
            </a:r>
            <a:endParaRPr b="0" lang="en-US" sz="1600" strike="noStrike" u="none">
              <a:solidFill>
                <a:srgbClr val="ffffff"/>
              </a:solidFill>
              <a:effectLst/>
              <a:uFillTx/>
              <a:latin typeface="OpenSymbol"/>
            </a:endParaRPr>
          </a:p>
          <a:p>
            <a:pPr defTabSz="914400">
              <a:lnSpc>
                <a:spcPct val="150000"/>
              </a:lnSpc>
              <a:tabLst>
                <a:tab algn="l" pos="0"/>
              </a:tabLst>
            </a:pPr>
            <a:r>
              <a:rPr b="0" lang="en-US" sz="1600" strike="noStrike" u="none">
                <a:solidFill>
                  <a:srgbClr val="ffffff"/>
                </a:solidFill>
                <a:effectLst/>
                <a:uFillTx/>
                <a:latin typeface="DM Sans"/>
              </a:rPr>
              <a:t>- Measure engagement, learning gains, and placement impact.</a:t>
            </a:r>
            <a:endParaRPr b="0" lang="en-US" sz="1600" strike="noStrike" u="none">
              <a:solidFill>
                <a:srgbClr val="ffffff"/>
              </a:solidFill>
              <a:effectLst/>
              <a:uFillTx/>
              <a:latin typeface="OpenSymbol"/>
            </a:endParaRPr>
          </a:p>
          <a:p>
            <a:pPr defTabSz="914400">
              <a:lnSpc>
                <a:spcPct val="150000"/>
              </a:lnSpc>
              <a:tabLst>
                <a:tab algn="l" pos="0"/>
              </a:tabLst>
            </a:pPr>
            <a:r>
              <a:rPr b="0" lang="en-US" sz="1600" strike="noStrike" u="none">
                <a:solidFill>
                  <a:srgbClr val="ffffff"/>
                </a:solidFill>
                <a:effectLst/>
                <a:uFillTx/>
                <a:latin typeface="DM Sans"/>
              </a:rPr>
              <a:t>- Iterate for campus-wide integration with minimal campus overhead.</a:t>
            </a:r>
            <a:endParaRPr b="0" lang="en-US" sz="16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2352600" y="600120"/>
            <a:ext cx="4447800" cy="201204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6000" strike="noStrike" u="none">
                <a:solidFill>
                  <a:schemeClr val="dk1"/>
                </a:solidFill>
                <a:effectLst/>
                <a:uFillTx/>
                <a:latin typeface="Archivo"/>
                <a:ea typeface="Archivo"/>
              </a:rPr>
              <a:t>Thanks!</a:t>
            </a:r>
            <a:endParaRPr b="0" lang="fr-FR" sz="6000" strike="noStrike" u="none">
              <a:solidFill>
                <a:schemeClr val="dk1"/>
              </a:solidFill>
              <a:effectLst/>
              <a:uFillTx/>
              <a:latin typeface="Arial"/>
            </a:endParaRPr>
          </a:p>
        </p:txBody>
      </p:sp>
      <p:sp>
        <p:nvSpPr>
          <p:cNvPr id="150" name="PlaceHolder 2"/>
          <p:cNvSpPr>
            <a:spLocks noGrp="1"/>
          </p:cNvSpPr>
          <p:nvPr>
            <p:ph type="subTitle"/>
          </p:nvPr>
        </p:nvSpPr>
        <p:spPr>
          <a:xfrm>
            <a:off x="2343240" y="1762200"/>
            <a:ext cx="4447800" cy="1057320"/>
          </a:xfrm>
          <a:prstGeom prst="rect">
            <a:avLst/>
          </a:prstGeom>
          <a:noFill/>
          <a:ln w="0">
            <a:noFill/>
          </a:ln>
        </p:spPr>
        <p:txBody>
          <a:bodyPr lIns="91440" rIns="91440" tIns="91440" bIns="91440" anchor="ctr">
            <a:spAutoFit/>
          </a:bodyPr>
          <a:p>
            <a:pPr indent="0" algn="ctr">
              <a:lnSpc>
                <a:spcPct val="100000"/>
              </a:lnSpc>
              <a:buNone/>
              <a:tabLst>
                <a:tab algn="l" pos="0"/>
              </a:tabLst>
            </a:pPr>
            <a:r>
              <a:rPr b="1" lang="en" sz="2000" strike="noStrike" u="none">
                <a:solidFill>
                  <a:schemeClr val="dk1"/>
                </a:solidFill>
                <a:effectLst/>
                <a:uFillTx/>
                <a:latin typeface="DM Sans"/>
                <a:ea typeface="DM Sans"/>
              </a:rPr>
              <a:t>Do you have any questions?</a:t>
            </a:r>
            <a:endParaRPr b="0" lang="en-US" sz="20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DM Sans"/>
                <a:ea typeface="DM Sans"/>
              </a:rPr>
              <a:t>youremail@freepik.com</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DM Sans"/>
                <a:ea typeface="DM Sans"/>
              </a:rPr>
              <a:t>+34 654 321 432</a:t>
            </a:r>
            <a:endParaRPr b="0" lang="en-US" sz="1400" strike="noStrike" u="none">
              <a:solidFill>
                <a:srgbClr val="ffffff"/>
              </a:solidFill>
              <a:effectLst/>
              <a:uFillTx/>
              <a:latin typeface="OpenSymbol"/>
            </a:endParaRPr>
          </a:p>
          <a:p>
            <a:pPr indent="0" algn="ctr">
              <a:lnSpc>
                <a:spcPct val="100000"/>
              </a:lnSpc>
              <a:buNone/>
              <a:tabLst>
                <a:tab algn="l" pos="0"/>
              </a:tabLst>
            </a:pPr>
            <a:r>
              <a:rPr b="0" lang="en" sz="1400" strike="noStrike" u="none">
                <a:solidFill>
                  <a:schemeClr val="dk1"/>
                </a:solidFill>
                <a:effectLst/>
                <a:uFillTx/>
                <a:latin typeface="DM Sans"/>
                <a:ea typeface="DM Sans"/>
              </a:rPr>
              <a:t>yourwebsite.com</a:t>
            </a:r>
            <a:endParaRPr b="0" lang="en-US" sz="1400" strike="noStrike" u="none">
              <a:solidFill>
                <a:srgbClr val="ffffff"/>
              </a:solidFill>
              <a:effectLst/>
              <a:uFillTx/>
              <a:latin typeface="OpenSymbol"/>
            </a:endParaRPr>
          </a:p>
        </p:txBody>
      </p:sp>
      <p:sp>
        <p:nvSpPr>
          <p:cNvPr id="151" name="Google Shape;804;p73"/>
          <p:cNvSpPr/>
          <p:nvPr/>
        </p:nvSpPr>
        <p:spPr>
          <a:xfrm>
            <a:off x="2809800" y="4200480"/>
            <a:ext cx="3524040" cy="352080"/>
          </a:xfrm>
          <a:prstGeom prst="rect">
            <a:avLst/>
          </a:prstGeom>
          <a:noFill/>
          <a:ln w="0">
            <a:noFill/>
          </a:ln>
        </p:spPr>
        <p:style>
          <a:lnRef idx="0"/>
          <a:fillRef idx="0"/>
          <a:effectRef idx="0"/>
          <a:fontRef idx="minor"/>
        </p:style>
        <p:txBody>
          <a:bodyPr lIns="870823080" rIns="870823080" tIns="-3122640" bIns="-312264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ffffff"/>
              </a:solidFill>
              <a:effectLst/>
              <a:uFillTx/>
              <a:latin typeface="OpenSymbol"/>
            </a:endParaRPr>
          </a:p>
        </p:txBody>
      </p:sp>
      <p:grpSp>
        <p:nvGrpSpPr>
          <p:cNvPr id="152" name="Google Shape;805;p73"/>
          <p:cNvGrpSpPr/>
          <p:nvPr/>
        </p:nvGrpSpPr>
        <p:grpSpPr>
          <a:xfrm>
            <a:off x="3975840" y="3158640"/>
            <a:ext cx="214920" cy="214920"/>
            <a:chOff x="3975840" y="3158640"/>
            <a:chExt cx="214920" cy="214920"/>
          </a:xfrm>
        </p:grpSpPr>
        <p:sp>
          <p:nvSpPr>
            <p:cNvPr id="153" name="Google Shape;806;p73"/>
            <p:cNvSpPr/>
            <p:nvPr/>
          </p:nvSpPr>
          <p:spPr>
            <a:xfrm>
              <a:off x="3975840" y="315864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4" name="Google Shape;807;p73"/>
            <p:cNvSpPr/>
            <p:nvPr/>
          </p:nvSpPr>
          <p:spPr>
            <a:xfrm>
              <a:off x="4025880" y="320976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5" name="Google Shape;808;p73"/>
            <p:cNvSpPr/>
            <p:nvPr/>
          </p:nvSpPr>
          <p:spPr>
            <a:xfrm>
              <a:off x="4127040" y="318636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56" name="Google Shape;809;p73"/>
          <p:cNvGrpSpPr/>
          <p:nvPr/>
        </p:nvGrpSpPr>
        <p:grpSpPr>
          <a:xfrm>
            <a:off x="4471200" y="3166200"/>
            <a:ext cx="208080" cy="185760"/>
            <a:chOff x="4471200" y="3166200"/>
            <a:chExt cx="208080" cy="185760"/>
          </a:xfrm>
        </p:grpSpPr>
        <p:sp>
          <p:nvSpPr>
            <p:cNvPr id="157" name="Google Shape;810;p73"/>
            <p:cNvSpPr/>
            <p:nvPr/>
          </p:nvSpPr>
          <p:spPr>
            <a:xfrm>
              <a:off x="4478400" y="323172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8" name="Google Shape;811;p73"/>
            <p:cNvSpPr/>
            <p:nvPr/>
          </p:nvSpPr>
          <p:spPr>
            <a:xfrm>
              <a:off x="4471200" y="316620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9" name="Google Shape;812;p73"/>
            <p:cNvSpPr/>
            <p:nvPr/>
          </p:nvSpPr>
          <p:spPr>
            <a:xfrm>
              <a:off x="4551480" y="323172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60" name="Google Shape;813;p73"/>
          <p:cNvSpPr/>
          <p:nvPr/>
        </p:nvSpPr>
        <p:spPr>
          <a:xfrm rot="21098400">
            <a:off x="3872160" y="3049200"/>
            <a:ext cx="422280" cy="433440"/>
          </a:xfrm>
          <a:custGeom>
            <a:avLst/>
            <a:gdLst>
              <a:gd name="textAreaLeft" fmla="*/ 0 w 422280"/>
              <a:gd name="textAreaRight" fmla="*/ 422640 w 422280"/>
              <a:gd name="textAreaTop" fmla="*/ 0 h 433440"/>
              <a:gd name="textAreaBottom" fmla="*/ 433800 h 4334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1" name="Google Shape;814;p73"/>
          <p:cNvSpPr/>
          <p:nvPr/>
        </p:nvSpPr>
        <p:spPr>
          <a:xfrm>
            <a:off x="4965120" y="3180600"/>
            <a:ext cx="227160" cy="185400"/>
          </a:xfrm>
          <a:custGeom>
            <a:avLst/>
            <a:gdLst>
              <a:gd name="textAreaLeft" fmla="*/ 0 w 227160"/>
              <a:gd name="textAreaRight" fmla="*/ 227520 w 227160"/>
              <a:gd name="textAreaTop" fmla="*/ 0 h 185400"/>
              <a:gd name="textAreaBottom" fmla="*/ 185760 h 18540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2" name="Google Shape;815;p73"/>
          <p:cNvSpPr/>
          <p:nvPr/>
        </p:nvSpPr>
        <p:spPr>
          <a:xfrm rot="21098400">
            <a:off x="4362480" y="3049200"/>
            <a:ext cx="422280" cy="433440"/>
          </a:xfrm>
          <a:custGeom>
            <a:avLst/>
            <a:gdLst>
              <a:gd name="textAreaLeft" fmla="*/ 0 w 422280"/>
              <a:gd name="textAreaRight" fmla="*/ 422640 w 422280"/>
              <a:gd name="textAreaTop" fmla="*/ 0 h 433440"/>
              <a:gd name="textAreaBottom" fmla="*/ 433800 h 4334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3" name="Google Shape;816;p73"/>
          <p:cNvSpPr/>
          <p:nvPr/>
        </p:nvSpPr>
        <p:spPr>
          <a:xfrm rot="21098400">
            <a:off x="4855680" y="3049200"/>
            <a:ext cx="422280" cy="433440"/>
          </a:xfrm>
          <a:custGeom>
            <a:avLst/>
            <a:gdLst>
              <a:gd name="textAreaLeft" fmla="*/ 0 w 422280"/>
              <a:gd name="textAreaRight" fmla="*/ 422640 w 422280"/>
              <a:gd name="textAreaTop" fmla="*/ 0 h 433440"/>
              <a:gd name="textAreaBottom" fmla="*/ 433800 h 433440"/>
            </a:gdLst>
            <a:ahLst/>
            <a:cxnLst/>
            <a:rect l="textAreaLeft" t="textAreaTop" r="textAreaRight" b="textAreaBottom"/>
            <a:pathLst>
              <a:path w="112252" h="115206">
                <a:moveTo>
                  <a:pt x="58447" y="487"/>
                </a:moveTo>
                <a:cubicBezTo>
                  <a:pt x="63248" y="487"/>
                  <a:pt x="67886" y="1824"/>
                  <a:pt x="72342" y="4438"/>
                </a:cubicBezTo>
                <a:cubicBezTo>
                  <a:pt x="78634" y="8146"/>
                  <a:pt x="84957" y="11794"/>
                  <a:pt x="91249" y="15472"/>
                </a:cubicBezTo>
                <a:cubicBezTo>
                  <a:pt x="97419" y="19119"/>
                  <a:pt x="101553" y="24408"/>
                  <a:pt x="103559" y="31308"/>
                </a:cubicBezTo>
                <a:cubicBezTo>
                  <a:pt x="105899" y="39302"/>
                  <a:pt x="108270" y="47265"/>
                  <a:pt x="110489" y="55290"/>
                </a:cubicBezTo>
                <a:cubicBezTo>
                  <a:pt x="112252" y="61673"/>
                  <a:pt x="111644" y="67934"/>
                  <a:pt x="108696" y="73861"/>
                </a:cubicBezTo>
                <a:cubicBezTo>
                  <a:pt x="105139" y="80974"/>
                  <a:pt x="101492" y="87995"/>
                  <a:pt x="97753" y="94986"/>
                </a:cubicBezTo>
                <a:cubicBezTo>
                  <a:pt x="94288" y="101461"/>
                  <a:pt x="88878" y="105746"/>
                  <a:pt x="81856" y="107874"/>
                </a:cubicBezTo>
                <a:cubicBezTo>
                  <a:pt x="75078" y="109911"/>
                  <a:pt x="68269" y="111825"/>
                  <a:pt x="61461" y="113801"/>
                </a:cubicBezTo>
                <a:cubicBezTo>
                  <a:pt x="59181" y="114439"/>
                  <a:pt x="56841" y="114713"/>
                  <a:pt x="54470" y="114743"/>
                </a:cubicBezTo>
                <a:lnTo>
                  <a:pt x="54439" y="114743"/>
                </a:lnTo>
                <a:cubicBezTo>
                  <a:pt x="49576" y="114713"/>
                  <a:pt x="45047" y="113467"/>
                  <a:pt x="40852" y="111005"/>
                </a:cubicBezTo>
                <a:cubicBezTo>
                  <a:pt x="34469" y="107297"/>
                  <a:pt x="28056" y="103588"/>
                  <a:pt x="21673" y="99850"/>
                </a:cubicBezTo>
                <a:cubicBezTo>
                  <a:pt x="15472" y="96233"/>
                  <a:pt x="11308" y="90974"/>
                  <a:pt x="9271" y="84105"/>
                </a:cubicBezTo>
                <a:cubicBezTo>
                  <a:pt x="6931" y="76172"/>
                  <a:pt x="4621" y="68238"/>
                  <a:pt x="2372" y="60275"/>
                </a:cubicBezTo>
                <a:cubicBezTo>
                  <a:pt x="457" y="53496"/>
                  <a:pt x="1186" y="46931"/>
                  <a:pt x="4408" y="40670"/>
                </a:cubicBezTo>
                <a:cubicBezTo>
                  <a:pt x="7782" y="34043"/>
                  <a:pt x="11217" y="27448"/>
                  <a:pt x="14651" y="20852"/>
                </a:cubicBezTo>
                <a:cubicBezTo>
                  <a:pt x="18238" y="14013"/>
                  <a:pt x="23740" y="9484"/>
                  <a:pt x="31156" y="7295"/>
                </a:cubicBezTo>
                <a:cubicBezTo>
                  <a:pt x="37631" y="5350"/>
                  <a:pt x="44105" y="3496"/>
                  <a:pt x="50610" y="1642"/>
                </a:cubicBezTo>
                <a:cubicBezTo>
                  <a:pt x="53267" y="869"/>
                  <a:pt x="55881" y="487"/>
                  <a:pt x="58447" y="487"/>
                </a:cubicBezTo>
                <a:close/>
                <a:moveTo>
                  <a:pt x="58487" y="0"/>
                </a:moveTo>
                <a:cubicBezTo>
                  <a:pt x="56106" y="0"/>
                  <a:pt x="53682" y="331"/>
                  <a:pt x="51217" y="1003"/>
                </a:cubicBezTo>
                <a:cubicBezTo>
                  <a:pt x="44378" y="2888"/>
                  <a:pt x="37539" y="4894"/>
                  <a:pt x="30761" y="6961"/>
                </a:cubicBezTo>
                <a:cubicBezTo>
                  <a:pt x="23436" y="9149"/>
                  <a:pt x="17934" y="13678"/>
                  <a:pt x="14378" y="20457"/>
                </a:cubicBezTo>
                <a:cubicBezTo>
                  <a:pt x="10852" y="27113"/>
                  <a:pt x="7417" y="33800"/>
                  <a:pt x="3982" y="40487"/>
                </a:cubicBezTo>
                <a:cubicBezTo>
                  <a:pt x="700" y="46901"/>
                  <a:pt x="1" y="53618"/>
                  <a:pt x="1976" y="60548"/>
                </a:cubicBezTo>
                <a:cubicBezTo>
                  <a:pt x="4226" y="68451"/>
                  <a:pt x="6505" y="76354"/>
                  <a:pt x="8846" y="84257"/>
                </a:cubicBezTo>
                <a:cubicBezTo>
                  <a:pt x="10882" y="91096"/>
                  <a:pt x="15016" y="96385"/>
                  <a:pt x="21156" y="100032"/>
                </a:cubicBezTo>
                <a:cubicBezTo>
                  <a:pt x="27570" y="103831"/>
                  <a:pt x="34013" y="107540"/>
                  <a:pt x="40457" y="111309"/>
                </a:cubicBezTo>
                <a:cubicBezTo>
                  <a:pt x="44894" y="113895"/>
                  <a:pt x="49513" y="115205"/>
                  <a:pt x="54297" y="115205"/>
                </a:cubicBezTo>
                <a:cubicBezTo>
                  <a:pt x="56822" y="115205"/>
                  <a:pt x="59393" y="114840"/>
                  <a:pt x="62008" y="114105"/>
                </a:cubicBezTo>
                <a:cubicBezTo>
                  <a:pt x="68513" y="112251"/>
                  <a:pt x="75017" y="110336"/>
                  <a:pt x="81522" y="108421"/>
                </a:cubicBezTo>
                <a:cubicBezTo>
                  <a:pt x="89212" y="106202"/>
                  <a:pt x="94896" y="101521"/>
                  <a:pt x="98574" y="94439"/>
                </a:cubicBezTo>
                <a:cubicBezTo>
                  <a:pt x="101978" y="87904"/>
                  <a:pt x="105352" y="81339"/>
                  <a:pt x="108756" y="74804"/>
                </a:cubicBezTo>
                <a:cubicBezTo>
                  <a:pt x="110793" y="70852"/>
                  <a:pt x="111857" y="66658"/>
                  <a:pt x="111887" y="62068"/>
                </a:cubicBezTo>
                <a:cubicBezTo>
                  <a:pt x="111857" y="59788"/>
                  <a:pt x="111614" y="57417"/>
                  <a:pt x="110945" y="55107"/>
                </a:cubicBezTo>
                <a:cubicBezTo>
                  <a:pt x="109212" y="49089"/>
                  <a:pt x="107480" y="43071"/>
                  <a:pt x="105717" y="37083"/>
                </a:cubicBezTo>
                <a:cubicBezTo>
                  <a:pt x="104835" y="34104"/>
                  <a:pt x="104045" y="31065"/>
                  <a:pt x="102921" y="28207"/>
                </a:cubicBezTo>
                <a:cubicBezTo>
                  <a:pt x="100762" y="22736"/>
                  <a:pt x="97054" y="18450"/>
                  <a:pt x="92008" y="15411"/>
                </a:cubicBezTo>
                <a:cubicBezTo>
                  <a:pt x="85413" y="11490"/>
                  <a:pt x="78786" y="7660"/>
                  <a:pt x="72160" y="3830"/>
                </a:cubicBezTo>
                <a:cubicBezTo>
                  <a:pt x="67774" y="1304"/>
                  <a:pt x="63214" y="0"/>
                  <a:pt x="58487" y="0"/>
                </a:cubicBezTo>
                <a:close/>
              </a:path>
            </a:pathLst>
          </a:custGeom>
          <a:solidFill>
            <a:schemeClr val="dk1"/>
          </a:solidFill>
          <a:ln w="9525">
            <a:solidFill>
              <a:srgbClr val="ffffff"/>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Biostatistics in Epidemiology - Master of Science in Epidemiology by Slidesgo">
  <a:themeElements>
    <a:clrScheme name="Simple Light">
      <a:dk1>
        <a:srgbClr val="ffffff"/>
      </a:dk1>
      <a:lt1>
        <a:srgbClr val="1c5383"/>
      </a:lt1>
      <a:dk2>
        <a:srgbClr val="07b2d7"/>
      </a:dk2>
      <a:lt2>
        <a:srgbClr val="ee65eb"/>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2026-09-07T15:31:02Z</dcterms:created>
  <dc:creator>Slidesgo AI</dc:creator>
  <dc:description/>
  <dc:language>en-US</dc:language>
  <cp:lastModifiedBy>Unknown Creator</cp:lastModifiedBy>
  <dcterms:modified xsi:type="dcterms:W3CDTF">2026-09-07T15:31:02Z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y fmtid="{D5CDD505-2E9C-101B-9397-08002B2CF9AE}" pid="3" name="SlidesgoGeneratedBy">
    <vt:lpwstr>slidesgo-ai</vt:lpwstr>
  </property>
  <property fmtid="{D5CDD505-2E9C-101B-9397-08002B2CF9AE}" pid="4" name="SlidesgoPresentationUuid">
    <vt:lpwstr>a2b0905f-c530-44b8-ac98-844cd1660744</vt:lpwstr>
  </property>
</Properties>
</file>